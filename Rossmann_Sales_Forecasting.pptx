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63F"/>
        </a:solidFill>
      </p:bgPr>
    </p:bg>
    <p:spTree>
      <p:nvGrpSpPr>
        <p:cNvPr id="1" name=""/>
        <p:cNvGrpSpPr/>
        <p:nvPr/>
      </p:nvGrpSpPr>
      <p:grpSpPr>
        <a:xfrm>
          <a:off x="0" y="0"/>
          <a:ext cx="0" cy="0"/>
          <a:chOff x="0" y="0"/>
          <a:chExt cx="0" cy="0"/>
        </a:xfrm>
      </p:grpSpPr>
      <p:sp>
        <p:nvSpPr>
          <p:cNvPr id="2" name="Shape 0"/>
          <p:cNvSpPr/>
          <p:nvPr/>
        </p:nvSpPr>
        <p:spPr>
          <a:xfrm>
            <a:off x="8778240" y="-1463040"/>
            <a:ext cx="5486400" cy="5486400"/>
          </a:xfrm>
          <a:prstGeom prst="ellipse">
            <a:avLst/>
          </a:prstGeom>
          <a:solidFill>
            <a:srgbClr val="0B3D62">
              <a:alpha val="60000"/>
            </a:srgbClr>
          </a:solidFill>
          <a:ln/>
        </p:spPr>
      </p:sp>
      <p:sp>
        <p:nvSpPr>
          <p:cNvPr id="3" name="Shape 1"/>
          <p:cNvSpPr/>
          <p:nvPr/>
        </p:nvSpPr>
        <p:spPr>
          <a:xfrm>
            <a:off x="9692640" y="-548640"/>
            <a:ext cx="3657600" cy="3657600"/>
          </a:xfrm>
          <a:prstGeom prst="ellipse">
            <a:avLst/>
          </a:prstGeom>
          <a:solidFill>
            <a:srgbClr val="1C7293">
              <a:alpha val="45000"/>
            </a:srgbClr>
          </a:solidFill>
          <a:ln/>
        </p:spPr>
      </p:sp>
      <p:sp>
        <p:nvSpPr>
          <p:cNvPr id="4" name="Shape 2"/>
          <p:cNvSpPr/>
          <p:nvPr/>
        </p:nvSpPr>
        <p:spPr>
          <a:xfrm>
            <a:off x="-1645920" y="4206240"/>
            <a:ext cx="4114800" cy="4114800"/>
          </a:xfrm>
          <a:prstGeom prst="ellipse">
            <a:avLst/>
          </a:prstGeom>
          <a:solidFill>
            <a:srgbClr val="1C7293">
              <a:alpha val="35000"/>
            </a:srgbClr>
          </a:solidFill>
          <a:ln/>
        </p:spPr>
      </p:sp>
      <p:sp>
        <p:nvSpPr>
          <p:cNvPr id="5" name="Text 3"/>
          <p:cNvSpPr/>
          <p:nvPr/>
        </p:nvSpPr>
        <p:spPr>
          <a:xfrm>
            <a:off x="731520" y="1417320"/>
            <a:ext cx="9144000" cy="365760"/>
          </a:xfrm>
          <a:prstGeom prst="rect">
            <a:avLst/>
          </a:prstGeom>
          <a:noFill/>
          <a:ln/>
        </p:spPr>
        <p:txBody>
          <a:bodyPr wrap="square" rtlCol="0" anchor="ctr"/>
          <a:lstStyle/>
          <a:p>
            <a:pPr indent="0" marL="0">
              <a:buNone/>
            </a:pPr>
            <a:r>
              <a:rPr lang="en-US" sz="1300" b="1" spc="200" kern="0" dirty="0">
                <a:solidFill>
                  <a:srgbClr val="9FD8CB"/>
                </a:solidFill>
                <a:latin typeface="Calibri" pitchFamily="34" charset="0"/>
                <a:ea typeface="Calibri" pitchFamily="34" charset="-122"/>
                <a:cs typeface="Calibri" pitchFamily="34" charset="-120"/>
              </a:rPr>
              <a:t>NEXTHIKES IT SOLUTIONS  ·  ROSSMANN PHARMACEUTICALS</a:t>
            </a:r>
            <a:endParaRPr lang="en-US" sz="1300" dirty="0"/>
          </a:p>
        </p:txBody>
      </p:sp>
      <p:sp>
        <p:nvSpPr>
          <p:cNvPr id="6" name="Text 4"/>
          <p:cNvSpPr/>
          <p:nvPr/>
        </p:nvSpPr>
        <p:spPr>
          <a:xfrm>
            <a:off x="685800" y="1874520"/>
            <a:ext cx="9875520" cy="2103120"/>
          </a:xfrm>
          <a:prstGeom prst="rect">
            <a:avLst/>
          </a:prstGeom>
          <a:noFill/>
          <a:ln/>
        </p:spPr>
        <p:txBody>
          <a:bodyPr wrap="square"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Sales Forecasting</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Across Multiple Retail Stores</a:t>
            </a:r>
            <a:endParaRPr lang="en-US" sz="4600" dirty="0"/>
          </a:p>
        </p:txBody>
      </p:sp>
      <p:sp>
        <p:nvSpPr>
          <p:cNvPr id="7" name="Text 5"/>
          <p:cNvSpPr/>
          <p:nvPr/>
        </p:nvSpPr>
        <p:spPr>
          <a:xfrm>
            <a:off x="731520" y="3977640"/>
            <a:ext cx="7680960" cy="822960"/>
          </a:xfrm>
          <a:prstGeom prst="rect">
            <a:avLst/>
          </a:prstGeom>
          <a:noFill/>
          <a:ln/>
        </p:spPr>
        <p:txBody>
          <a:bodyPr wrap="square" rtlCol="0" anchor="ctr"/>
          <a:lstStyle/>
          <a:p>
            <a:pPr indent="0" marL="0">
              <a:buNone/>
            </a:pPr>
            <a:r>
              <a:rPr lang="en-US" sz="1500" dirty="0">
                <a:solidFill>
                  <a:srgbClr val="D7E4EA"/>
                </a:solidFill>
                <a:latin typeface="Calibri" pitchFamily="34" charset="0"/>
                <a:ea typeface="Calibri" pitchFamily="34" charset="-122"/>
                <a:cs typeface="Calibri" pitchFamily="34" charset="-120"/>
              </a:rPr>
              <a:t>An end-to-end machine learning product forecasting daily sales, six weeks ahead, across 1,115 stores — from exploratory analysis to a served, production-ready model.</a:t>
            </a:r>
            <a:endParaRPr lang="en-US" sz="1500" dirty="0"/>
          </a:p>
        </p:txBody>
      </p:sp>
      <p:sp>
        <p:nvSpPr>
          <p:cNvPr id="8" name="Shape 6"/>
          <p:cNvSpPr/>
          <p:nvPr/>
        </p:nvSpPr>
        <p:spPr>
          <a:xfrm>
            <a:off x="731520" y="5029200"/>
            <a:ext cx="2011680" cy="0"/>
          </a:xfrm>
          <a:prstGeom prst="line">
            <a:avLst/>
          </a:prstGeom>
          <a:noFill/>
          <a:ln w="38100">
            <a:solidFill>
              <a:srgbClr val="F2A541"/>
            </a:solidFill>
            <a:prstDash val="solid"/>
          </a:ln>
        </p:spPr>
      </p:sp>
      <p:sp>
        <p:nvSpPr>
          <p:cNvPr id="9" name="Text 7"/>
          <p:cNvSpPr/>
          <p:nvPr/>
        </p:nvSpPr>
        <p:spPr>
          <a:xfrm>
            <a:off x="731520" y="5166360"/>
            <a:ext cx="7315200" cy="320040"/>
          </a:xfrm>
          <a:prstGeom prst="rect">
            <a:avLst/>
          </a:prstGeom>
          <a:noFill/>
          <a:ln/>
        </p:spPr>
        <p:txBody>
          <a:bodyPr wrap="square" rtlCol="0" anchor="ctr"/>
          <a:lstStyle/>
          <a:p>
            <a:pPr indent="0" marL="0">
              <a:buNone/>
            </a:pPr>
            <a:r>
              <a:rPr lang="en-US" sz="1200" dirty="0">
                <a:solidFill>
                  <a:srgbClr val="9FD8CB"/>
                </a:solidFill>
                <a:latin typeface="Calibri" pitchFamily="34" charset="0"/>
                <a:ea typeface="Calibri" pitchFamily="34" charset="-122"/>
                <a:cs typeface="Calibri" pitchFamily="34" charset="-120"/>
              </a:rPr>
              <a:t>Machine Learning Engineer  ·  Sales Forecasting Project</a:t>
            </a:r>
            <a:endParaRPr lang="en-US" sz="1200" dirty="0"/>
          </a:p>
        </p:txBody>
      </p:sp>
      <p:sp>
        <p:nvSpPr>
          <p:cNvPr id="10" name="Text 8"/>
          <p:cNvSpPr/>
          <p:nvPr/>
        </p:nvSpPr>
        <p:spPr>
          <a:xfrm>
            <a:off x="731520" y="5486400"/>
            <a:ext cx="7315200" cy="320040"/>
          </a:xfrm>
          <a:prstGeom prst="rect">
            <a:avLst/>
          </a:prstGeom>
          <a:noFill/>
          <a:ln/>
        </p:spPr>
        <p:txBody>
          <a:bodyPr wrap="square" rtlCol="0" anchor="ctr"/>
          <a:lstStyle/>
          <a:p>
            <a:pPr indent="0" marL="0">
              <a:buNone/>
            </a:pPr>
            <a:r>
              <a:rPr lang="en-US" sz="1200" dirty="0">
                <a:solidFill>
                  <a:srgbClr val="9FD8CB"/>
                </a:solidFill>
                <a:latin typeface="Calibri" pitchFamily="34" charset="0"/>
                <a:ea typeface="Calibri" pitchFamily="34" charset="-122"/>
                <a:cs typeface="Calibri" pitchFamily="34" charset="-120"/>
              </a:rPr>
              <a:t>Prepared for: Finance Team &amp; Store Managers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Why Rossmann needs a data-driven forecast</a:t>
            </a:r>
            <a:endParaRPr lang="en-US" sz="3000" dirty="0"/>
          </a:p>
        </p:txBody>
      </p:sp>
      <p:sp>
        <p:nvSpPr>
          <p:cNvPr id="4" name="Text 2"/>
          <p:cNvSpPr/>
          <p:nvPr/>
        </p:nvSpPr>
        <p:spPr>
          <a:xfrm>
            <a:off x="548640" y="1600200"/>
            <a:ext cx="5212080" cy="1828800"/>
          </a:xfrm>
          <a:prstGeom prst="rect">
            <a:avLst/>
          </a:prstGeom>
          <a:noFill/>
          <a:ln/>
        </p:spPr>
        <p:txBody>
          <a:bodyPr wrap="square" rtlCol="0" anchor="ctr"/>
          <a:lstStyle/>
          <a:p>
            <a:pPr indent="0" marL="0">
              <a:lnSpc>
                <a:spcPct val="125000"/>
              </a:lnSpc>
              <a:buNone/>
            </a:pPr>
            <a:r>
              <a:rPr lang="en-US" sz="1450" dirty="0">
                <a:solidFill>
                  <a:srgbClr val="1B1F23"/>
                </a:solidFill>
                <a:latin typeface="Calibri" pitchFamily="34" charset="0"/>
                <a:ea typeface="Calibri" pitchFamily="34" charset="-122"/>
                <a:cs typeface="Calibri" pitchFamily="34" charset="-120"/>
              </a:rPr>
              <a:t>Store managers currently forecast sales using personal judgement and experience. That works locally, but doesn't scale across 1,115 stores in several cities, and can't account for interacting effects like promotions, competition, and holidays at once.</a:t>
            </a:r>
            <a:endParaRPr lang="en-US" sz="1450" dirty="0"/>
          </a:p>
        </p:txBody>
      </p:sp>
      <p:sp>
        <p:nvSpPr>
          <p:cNvPr id="5" name="Text 3"/>
          <p:cNvSpPr/>
          <p:nvPr/>
        </p:nvSpPr>
        <p:spPr>
          <a:xfrm>
            <a:off x="548640" y="3520440"/>
            <a:ext cx="5212080" cy="1280160"/>
          </a:xfrm>
          <a:prstGeom prst="rect">
            <a:avLst/>
          </a:prstGeom>
          <a:noFill/>
          <a:ln/>
        </p:spPr>
        <p:txBody>
          <a:bodyPr wrap="square" rtlCol="0" anchor="ctr"/>
          <a:lstStyle/>
          <a:p>
            <a:pPr indent="0" marL="0">
              <a:lnSpc>
                <a:spcPct val="125000"/>
              </a:lnSpc>
              <a:buNone/>
            </a:pPr>
            <a:r>
              <a:rPr lang="en-US" sz="1450" dirty="0">
                <a:solidFill>
                  <a:srgbClr val="1B1F23"/>
                </a:solidFill>
                <a:latin typeface="Calibri" pitchFamily="34" charset="0"/>
                <a:ea typeface="Calibri" pitchFamily="34" charset="-122"/>
                <a:cs typeface="Calibri" pitchFamily="34" charset="-120"/>
              </a:rPr>
              <a:t>The finance team needs a forecast six weeks ahead, for every store, that is consistent, auditable, and easy to update daily as new data arrives.</a:t>
            </a:r>
            <a:endParaRPr lang="en-US" sz="1450" dirty="0"/>
          </a:p>
        </p:txBody>
      </p:sp>
      <p:sp>
        <p:nvSpPr>
          <p:cNvPr id="6" name="Shape 4"/>
          <p:cNvSpPr/>
          <p:nvPr/>
        </p:nvSpPr>
        <p:spPr>
          <a:xfrm>
            <a:off x="6126480" y="1600200"/>
            <a:ext cx="2788920" cy="1234440"/>
          </a:xfrm>
          <a:prstGeom prst="roundRect">
            <a:avLst>
              <a:gd name="adj" fmla="val 6667"/>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7" name="Shape 5"/>
          <p:cNvSpPr/>
          <p:nvPr/>
        </p:nvSpPr>
        <p:spPr>
          <a:xfrm>
            <a:off x="6327648" y="1783080"/>
            <a:ext cx="384048" cy="384048"/>
          </a:xfrm>
          <a:prstGeom prst="ellipse">
            <a:avLst/>
          </a:prstGeom>
          <a:solidFill>
            <a:srgbClr val="1C7293"/>
          </a:solidFill>
          <a:ln/>
        </p:spPr>
      </p:sp>
      <p:sp>
        <p:nvSpPr>
          <p:cNvPr id="8" name="Text 6"/>
          <p:cNvSpPr/>
          <p:nvPr/>
        </p:nvSpPr>
        <p:spPr>
          <a:xfrm>
            <a:off x="6327648" y="178308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6327648" y="2221992"/>
            <a:ext cx="2423160" cy="292608"/>
          </a:xfrm>
          <a:prstGeom prst="rect">
            <a:avLst/>
          </a:prstGeom>
          <a:noFill/>
          <a:ln/>
        </p:spPr>
        <p:txBody>
          <a:bodyPr wrap="square"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Promotions</a:t>
            </a:r>
            <a:endParaRPr lang="en-US" sz="1400" dirty="0"/>
          </a:p>
        </p:txBody>
      </p:sp>
      <p:sp>
        <p:nvSpPr>
          <p:cNvPr id="10" name="Text 8"/>
          <p:cNvSpPr/>
          <p:nvPr/>
        </p:nvSpPr>
        <p:spPr>
          <a:xfrm>
            <a:off x="6327648" y="2496312"/>
            <a:ext cx="2423160" cy="292608"/>
          </a:xfrm>
          <a:prstGeom prst="rect">
            <a:avLst/>
          </a:prstGeom>
          <a:noFill/>
          <a:ln/>
        </p:spPr>
        <p:txBody>
          <a:bodyPr wrap="square" rtlCol="0" anchor="ctr"/>
          <a:lstStyle/>
          <a:p>
            <a:pPr indent="0" marL="0">
              <a:buNone/>
            </a:pPr>
            <a:r>
              <a:rPr lang="en-US" sz="1100" dirty="0">
                <a:solidFill>
                  <a:srgbClr val="5B6770"/>
                </a:solidFill>
                <a:latin typeface="Calibri" pitchFamily="34" charset="0"/>
                <a:ea typeface="Calibri" pitchFamily="34" charset="-122"/>
                <a:cs typeface="Calibri" pitchFamily="34" charset="-120"/>
              </a:rPr>
              <a:t>Promo &amp; Promo2 campaigns</a:t>
            </a:r>
            <a:endParaRPr lang="en-US" sz="1100" dirty="0"/>
          </a:p>
        </p:txBody>
      </p:sp>
      <p:sp>
        <p:nvSpPr>
          <p:cNvPr id="11" name="Shape 9"/>
          <p:cNvSpPr/>
          <p:nvPr/>
        </p:nvSpPr>
        <p:spPr>
          <a:xfrm>
            <a:off x="9171432" y="1600200"/>
            <a:ext cx="2788920" cy="1234440"/>
          </a:xfrm>
          <a:prstGeom prst="roundRect">
            <a:avLst>
              <a:gd name="adj" fmla="val 6667"/>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12" name="Shape 10"/>
          <p:cNvSpPr/>
          <p:nvPr/>
        </p:nvSpPr>
        <p:spPr>
          <a:xfrm>
            <a:off x="9372600" y="1783080"/>
            <a:ext cx="384048" cy="384048"/>
          </a:xfrm>
          <a:prstGeom prst="ellipse">
            <a:avLst/>
          </a:prstGeom>
          <a:solidFill>
            <a:srgbClr val="1C7293"/>
          </a:solidFill>
          <a:ln/>
        </p:spPr>
      </p:sp>
      <p:sp>
        <p:nvSpPr>
          <p:cNvPr id="13" name="Text 11"/>
          <p:cNvSpPr/>
          <p:nvPr/>
        </p:nvSpPr>
        <p:spPr>
          <a:xfrm>
            <a:off x="9372600" y="178308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9372600" y="2221992"/>
            <a:ext cx="2423160" cy="292608"/>
          </a:xfrm>
          <a:prstGeom prst="rect">
            <a:avLst/>
          </a:prstGeom>
          <a:noFill/>
          <a:ln/>
        </p:spPr>
        <p:txBody>
          <a:bodyPr wrap="square"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Competition</a:t>
            </a:r>
            <a:endParaRPr lang="en-US" sz="1400" dirty="0"/>
          </a:p>
        </p:txBody>
      </p:sp>
      <p:sp>
        <p:nvSpPr>
          <p:cNvPr id="15" name="Text 13"/>
          <p:cNvSpPr/>
          <p:nvPr/>
        </p:nvSpPr>
        <p:spPr>
          <a:xfrm>
            <a:off x="9372600" y="2496312"/>
            <a:ext cx="2423160" cy="292608"/>
          </a:xfrm>
          <a:prstGeom prst="rect">
            <a:avLst/>
          </a:prstGeom>
          <a:noFill/>
          <a:ln/>
        </p:spPr>
        <p:txBody>
          <a:bodyPr wrap="square" rtlCol="0" anchor="ctr"/>
          <a:lstStyle/>
          <a:p>
            <a:pPr indent="0" marL="0">
              <a:buNone/>
            </a:pPr>
            <a:r>
              <a:rPr lang="en-US" sz="1100" dirty="0">
                <a:solidFill>
                  <a:srgbClr val="5B6770"/>
                </a:solidFill>
                <a:latin typeface="Calibri" pitchFamily="34" charset="0"/>
                <a:ea typeface="Calibri" pitchFamily="34" charset="-122"/>
                <a:cs typeface="Calibri" pitchFamily="34" charset="-120"/>
              </a:rPr>
              <a:t>Distance &amp; opening dates</a:t>
            </a:r>
            <a:endParaRPr lang="en-US" sz="1100" dirty="0"/>
          </a:p>
        </p:txBody>
      </p:sp>
      <p:sp>
        <p:nvSpPr>
          <p:cNvPr id="16" name="Shape 14"/>
          <p:cNvSpPr/>
          <p:nvPr/>
        </p:nvSpPr>
        <p:spPr>
          <a:xfrm>
            <a:off x="6126480" y="3090672"/>
            <a:ext cx="2788920" cy="1234440"/>
          </a:xfrm>
          <a:prstGeom prst="roundRect">
            <a:avLst>
              <a:gd name="adj" fmla="val 6667"/>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17" name="Shape 15"/>
          <p:cNvSpPr/>
          <p:nvPr/>
        </p:nvSpPr>
        <p:spPr>
          <a:xfrm>
            <a:off x="6327648" y="3273552"/>
            <a:ext cx="384048" cy="384048"/>
          </a:xfrm>
          <a:prstGeom prst="ellipse">
            <a:avLst/>
          </a:prstGeom>
          <a:solidFill>
            <a:srgbClr val="1C7293"/>
          </a:solidFill>
          <a:ln/>
        </p:spPr>
      </p:sp>
      <p:sp>
        <p:nvSpPr>
          <p:cNvPr id="18" name="Text 16"/>
          <p:cNvSpPr/>
          <p:nvPr/>
        </p:nvSpPr>
        <p:spPr>
          <a:xfrm>
            <a:off x="6327648" y="32735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327648" y="3712464"/>
            <a:ext cx="2423160" cy="292608"/>
          </a:xfrm>
          <a:prstGeom prst="rect">
            <a:avLst/>
          </a:prstGeom>
          <a:noFill/>
          <a:ln/>
        </p:spPr>
        <p:txBody>
          <a:bodyPr wrap="square"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Holidays</a:t>
            </a:r>
            <a:endParaRPr lang="en-US" sz="1400" dirty="0"/>
          </a:p>
        </p:txBody>
      </p:sp>
      <p:sp>
        <p:nvSpPr>
          <p:cNvPr id="20" name="Text 18"/>
          <p:cNvSpPr/>
          <p:nvPr/>
        </p:nvSpPr>
        <p:spPr>
          <a:xfrm>
            <a:off x="6327648" y="3986784"/>
            <a:ext cx="2423160" cy="292608"/>
          </a:xfrm>
          <a:prstGeom prst="rect">
            <a:avLst/>
          </a:prstGeom>
          <a:noFill/>
          <a:ln/>
        </p:spPr>
        <p:txBody>
          <a:bodyPr wrap="square" rtlCol="0" anchor="ctr"/>
          <a:lstStyle/>
          <a:p>
            <a:pPr indent="0" marL="0">
              <a:buNone/>
            </a:pPr>
            <a:r>
              <a:rPr lang="en-US" sz="1100" dirty="0">
                <a:solidFill>
                  <a:srgbClr val="5B6770"/>
                </a:solidFill>
                <a:latin typeface="Calibri" pitchFamily="34" charset="0"/>
                <a:ea typeface="Calibri" pitchFamily="34" charset="-122"/>
                <a:cs typeface="Calibri" pitchFamily="34" charset="-120"/>
              </a:rPr>
              <a:t>State &amp; school holidays</a:t>
            </a:r>
            <a:endParaRPr lang="en-US" sz="1100" dirty="0"/>
          </a:p>
        </p:txBody>
      </p:sp>
      <p:sp>
        <p:nvSpPr>
          <p:cNvPr id="21" name="Shape 19"/>
          <p:cNvSpPr/>
          <p:nvPr/>
        </p:nvSpPr>
        <p:spPr>
          <a:xfrm>
            <a:off x="9171432" y="3090672"/>
            <a:ext cx="2788920" cy="1234440"/>
          </a:xfrm>
          <a:prstGeom prst="roundRect">
            <a:avLst>
              <a:gd name="adj" fmla="val 6667"/>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22" name="Shape 20"/>
          <p:cNvSpPr/>
          <p:nvPr/>
        </p:nvSpPr>
        <p:spPr>
          <a:xfrm>
            <a:off x="9372600" y="3273552"/>
            <a:ext cx="384048" cy="384048"/>
          </a:xfrm>
          <a:prstGeom prst="ellipse">
            <a:avLst/>
          </a:prstGeom>
          <a:solidFill>
            <a:srgbClr val="1C7293"/>
          </a:solidFill>
          <a:ln/>
        </p:spPr>
      </p:sp>
      <p:sp>
        <p:nvSpPr>
          <p:cNvPr id="23" name="Text 21"/>
          <p:cNvSpPr/>
          <p:nvPr/>
        </p:nvSpPr>
        <p:spPr>
          <a:xfrm>
            <a:off x="9372600" y="32735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9372600" y="3712464"/>
            <a:ext cx="2423160" cy="292608"/>
          </a:xfrm>
          <a:prstGeom prst="rect">
            <a:avLst/>
          </a:prstGeom>
          <a:noFill/>
          <a:ln/>
        </p:spPr>
        <p:txBody>
          <a:bodyPr wrap="square"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Seasonality</a:t>
            </a:r>
            <a:endParaRPr lang="en-US" sz="1400" dirty="0"/>
          </a:p>
        </p:txBody>
      </p:sp>
      <p:sp>
        <p:nvSpPr>
          <p:cNvPr id="25" name="Text 23"/>
          <p:cNvSpPr/>
          <p:nvPr/>
        </p:nvSpPr>
        <p:spPr>
          <a:xfrm>
            <a:off x="9372600" y="3986784"/>
            <a:ext cx="2423160" cy="292608"/>
          </a:xfrm>
          <a:prstGeom prst="rect">
            <a:avLst/>
          </a:prstGeom>
          <a:noFill/>
          <a:ln/>
        </p:spPr>
        <p:txBody>
          <a:bodyPr wrap="square" rtlCol="0" anchor="ctr"/>
          <a:lstStyle/>
          <a:p>
            <a:pPr indent="0" marL="0">
              <a:buNone/>
            </a:pPr>
            <a:r>
              <a:rPr lang="en-US" sz="1100" dirty="0">
                <a:solidFill>
                  <a:srgbClr val="5B6770"/>
                </a:solidFill>
                <a:latin typeface="Calibri" pitchFamily="34" charset="0"/>
                <a:ea typeface="Calibri" pitchFamily="34" charset="-122"/>
                <a:cs typeface="Calibri" pitchFamily="34" charset="-120"/>
              </a:rPr>
              <a:t>Month, week, locality</a:t>
            </a:r>
            <a:endParaRPr lang="en-US" sz="1100" dirty="0"/>
          </a:p>
        </p:txBody>
      </p:sp>
      <p:sp>
        <p:nvSpPr>
          <p:cNvPr id="26" name="Shape 24"/>
          <p:cNvSpPr/>
          <p:nvPr/>
        </p:nvSpPr>
        <p:spPr>
          <a:xfrm>
            <a:off x="548640" y="5074920"/>
            <a:ext cx="11064240" cy="1051560"/>
          </a:xfrm>
          <a:prstGeom prst="roundRect">
            <a:avLst>
              <a:gd name="adj" fmla="val 7826"/>
            </a:avLst>
          </a:prstGeom>
          <a:solidFill>
            <a:srgbClr val="0B3D62"/>
          </a:solidFill>
          <a:ln/>
        </p:spPr>
      </p:sp>
      <p:sp>
        <p:nvSpPr>
          <p:cNvPr id="27" name="Text 25"/>
          <p:cNvSpPr/>
          <p:nvPr/>
        </p:nvSpPr>
        <p:spPr>
          <a:xfrm>
            <a:off x="868680" y="5074920"/>
            <a:ext cx="10424160" cy="1051560"/>
          </a:xfrm>
          <a:prstGeom prst="rect">
            <a:avLst/>
          </a:prstGeom>
          <a:noFill/>
          <a:ln/>
        </p:spPr>
        <p:txBody>
          <a:bodyPr wrap="square" rtlCol="0" anchor="ctr"/>
          <a:lstStyle/>
          <a:p>
            <a:pPr indent="0" marL="0">
              <a:lnSpc>
                <a:spcPct val="120000"/>
              </a:lnSpc>
              <a:buNone/>
            </a:pPr>
            <a:r>
              <a:rPr lang="en-US" sz="1450" b="1" dirty="0">
                <a:solidFill>
                  <a:srgbClr val="F2A541"/>
                </a:solidFill>
                <a:latin typeface="Calibri" pitchFamily="34" charset="0"/>
                <a:ea typeface="Calibri" pitchFamily="34" charset="-122"/>
                <a:cs typeface="Calibri" pitchFamily="34" charset="-120"/>
              </a:rPr>
              <a:t>The goal:  </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Build and serve an end-to-end product — analysis, model, and web dashboard — that delivers reliable 6-week sales forecasts directly to finance analysts.</a:t>
            </a:r>
            <a:endParaRPr lang="en-US" sz="1450" dirty="0"/>
          </a:p>
        </p:txBody>
      </p:sp>
      <p:sp>
        <p:nvSpPr>
          <p:cNvPr id="28" name="Text 2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Three objectives, one delivered pipeline</a:t>
            </a:r>
            <a:endParaRPr lang="en-US" sz="3000" dirty="0"/>
          </a:p>
        </p:txBody>
      </p:sp>
      <p:sp>
        <p:nvSpPr>
          <p:cNvPr id="4" name="Shape 2"/>
          <p:cNvSpPr/>
          <p:nvPr/>
        </p:nvSpPr>
        <p:spPr>
          <a:xfrm>
            <a:off x="548640" y="1691640"/>
            <a:ext cx="3611880" cy="4206240"/>
          </a:xfrm>
          <a:prstGeom prst="roundRect">
            <a:avLst>
              <a:gd name="adj" fmla="val 2532"/>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5" name="Shape 3"/>
          <p:cNvSpPr/>
          <p:nvPr/>
        </p:nvSpPr>
        <p:spPr>
          <a:xfrm>
            <a:off x="548640" y="1691640"/>
            <a:ext cx="3611880" cy="109728"/>
          </a:xfrm>
          <a:prstGeom prst="roundRect">
            <a:avLst/>
          </a:prstGeom>
          <a:solidFill>
            <a:srgbClr val="1C7293"/>
          </a:solidFill>
          <a:ln/>
        </p:spPr>
      </p:sp>
      <p:sp>
        <p:nvSpPr>
          <p:cNvPr id="6" name="Text 4"/>
          <p:cNvSpPr/>
          <p:nvPr/>
        </p:nvSpPr>
        <p:spPr>
          <a:xfrm>
            <a:off x="822960" y="2011680"/>
            <a:ext cx="1828800" cy="822960"/>
          </a:xfrm>
          <a:prstGeom prst="rect">
            <a:avLst/>
          </a:prstGeom>
          <a:noFill/>
          <a:ln/>
        </p:spPr>
        <p:txBody>
          <a:bodyPr wrap="square" rtlCol="0" anchor="ctr"/>
          <a:lstStyle/>
          <a:p>
            <a:pPr indent="0" marL="0">
              <a:buNone/>
            </a:pPr>
            <a:r>
              <a:rPr lang="en-US" sz="4000" b="1" dirty="0">
                <a:solidFill>
                  <a:srgbClr val="E1E8EC"/>
                </a:solidFill>
                <a:latin typeface="Cambria" pitchFamily="34" charset="0"/>
                <a:ea typeface="Cambria" pitchFamily="34" charset="-122"/>
                <a:cs typeface="Cambria" pitchFamily="34" charset="-120"/>
              </a:rPr>
              <a:t>01</a:t>
            </a:r>
            <a:endParaRPr lang="en-US" sz="4000" dirty="0"/>
          </a:p>
        </p:txBody>
      </p:sp>
      <p:sp>
        <p:nvSpPr>
          <p:cNvPr id="7" name="Text 5"/>
          <p:cNvSpPr/>
          <p:nvPr/>
        </p:nvSpPr>
        <p:spPr>
          <a:xfrm>
            <a:off x="822960" y="2743200"/>
            <a:ext cx="3063240" cy="457200"/>
          </a:xfrm>
          <a:prstGeom prst="rect">
            <a:avLst/>
          </a:prstGeom>
          <a:noFill/>
          <a:ln/>
        </p:spPr>
        <p:txBody>
          <a:bodyPr wrap="square" rtlCol="0" anchor="ctr"/>
          <a:lstStyle/>
          <a:p>
            <a:pPr indent="0" marL="0">
              <a:buNone/>
            </a:pPr>
            <a:r>
              <a:rPr lang="en-US" sz="1900" b="1" dirty="0">
                <a:solidFill>
                  <a:srgbClr val="0B3D62"/>
                </a:solidFill>
                <a:latin typeface="Calibri" pitchFamily="34" charset="0"/>
                <a:ea typeface="Calibri" pitchFamily="34" charset="-122"/>
                <a:cs typeface="Calibri" pitchFamily="34" charset="-120"/>
              </a:rPr>
              <a:t>Explore</a:t>
            </a:r>
            <a:endParaRPr lang="en-US" sz="1900" dirty="0"/>
          </a:p>
        </p:txBody>
      </p:sp>
      <p:sp>
        <p:nvSpPr>
          <p:cNvPr id="8" name="Text 6"/>
          <p:cNvSpPr/>
          <p:nvPr/>
        </p:nvSpPr>
        <p:spPr>
          <a:xfrm>
            <a:off x="822960" y="3291840"/>
            <a:ext cx="3063240" cy="2377440"/>
          </a:xfrm>
          <a:prstGeom prst="rect">
            <a:avLst/>
          </a:prstGeom>
          <a:noFill/>
          <a:ln/>
        </p:spPr>
        <p:txBody>
          <a:bodyPr wrap="square" rtlCol="0" anchor="ctr"/>
          <a:lstStyle/>
          <a:p>
            <a:pPr indent="0" marL="0">
              <a:lnSpc>
                <a:spcPct val="130000"/>
              </a:lnSpc>
              <a:buNone/>
            </a:pPr>
            <a:r>
              <a:rPr lang="en-US" sz="1300" dirty="0">
                <a:solidFill>
                  <a:srgbClr val="1B1F23"/>
                </a:solidFill>
                <a:latin typeface="Calibri" pitchFamily="34" charset="0"/>
                <a:ea typeface="Calibri" pitchFamily="34" charset="-122"/>
                <a:cs typeface="Calibri" pitchFamily="34" charset="-120"/>
              </a:rPr>
              <a:t>Clean the data and understand what actually drives customer purchasing behaviour — promos, holidays, seasonality, competition, locality.</a:t>
            </a:r>
            <a:endParaRPr lang="en-US" sz="1300" dirty="0"/>
          </a:p>
        </p:txBody>
      </p:sp>
      <p:sp>
        <p:nvSpPr>
          <p:cNvPr id="9" name="Shape 7"/>
          <p:cNvSpPr/>
          <p:nvPr/>
        </p:nvSpPr>
        <p:spPr>
          <a:xfrm>
            <a:off x="4343400" y="1691640"/>
            <a:ext cx="3611880" cy="4206240"/>
          </a:xfrm>
          <a:prstGeom prst="roundRect">
            <a:avLst>
              <a:gd name="adj" fmla="val 2532"/>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10" name="Shape 8"/>
          <p:cNvSpPr/>
          <p:nvPr/>
        </p:nvSpPr>
        <p:spPr>
          <a:xfrm>
            <a:off x="4343400" y="1691640"/>
            <a:ext cx="3611880" cy="109728"/>
          </a:xfrm>
          <a:prstGeom prst="roundRect">
            <a:avLst/>
          </a:prstGeom>
          <a:solidFill>
            <a:srgbClr val="F2A541"/>
          </a:solidFill>
          <a:ln/>
        </p:spPr>
      </p:sp>
      <p:sp>
        <p:nvSpPr>
          <p:cNvPr id="11" name="Text 9"/>
          <p:cNvSpPr/>
          <p:nvPr/>
        </p:nvSpPr>
        <p:spPr>
          <a:xfrm>
            <a:off x="4617720" y="2011680"/>
            <a:ext cx="1828800" cy="822960"/>
          </a:xfrm>
          <a:prstGeom prst="rect">
            <a:avLst/>
          </a:prstGeom>
          <a:noFill/>
          <a:ln/>
        </p:spPr>
        <p:txBody>
          <a:bodyPr wrap="square" rtlCol="0" anchor="ctr"/>
          <a:lstStyle/>
          <a:p>
            <a:pPr indent="0" marL="0">
              <a:buNone/>
            </a:pPr>
            <a:r>
              <a:rPr lang="en-US" sz="4000" b="1" dirty="0">
                <a:solidFill>
                  <a:srgbClr val="E1E8EC"/>
                </a:solidFill>
                <a:latin typeface="Cambria" pitchFamily="34" charset="0"/>
                <a:ea typeface="Cambria" pitchFamily="34" charset="-122"/>
                <a:cs typeface="Cambria" pitchFamily="34" charset="-120"/>
              </a:rPr>
              <a:t>02</a:t>
            </a:r>
            <a:endParaRPr lang="en-US" sz="4000" dirty="0"/>
          </a:p>
        </p:txBody>
      </p:sp>
      <p:sp>
        <p:nvSpPr>
          <p:cNvPr id="12" name="Text 10"/>
          <p:cNvSpPr/>
          <p:nvPr/>
        </p:nvSpPr>
        <p:spPr>
          <a:xfrm>
            <a:off x="4617720" y="2743200"/>
            <a:ext cx="3063240" cy="457200"/>
          </a:xfrm>
          <a:prstGeom prst="rect">
            <a:avLst/>
          </a:prstGeom>
          <a:noFill/>
          <a:ln/>
        </p:spPr>
        <p:txBody>
          <a:bodyPr wrap="square" rtlCol="0" anchor="ctr"/>
          <a:lstStyle/>
          <a:p>
            <a:pPr indent="0" marL="0">
              <a:buNone/>
            </a:pPr>
            <a:r>
              <a:rPr lang="en-US" sz="1900" b="1" dirty="0">
                <a:solidFill>
                  <a:srgbClr val="0B3D62"/>
                </a:solidFill>
                <a:latin typeface="Calibri" pitchFamily="34" charset="0"/>
                <a:ea typeface="Calibri" pitchFamily="34" charset="-122"/>
                <a:cs typeface="Calibri" pitchFamily="34" charset="-120"/>
              </a:rPr>
              <a:t>Predict</a:t>
            </a:r>
            <a:endParaRPr lang="en-US" sz="1900" dirty="0"/>
          </a:p>
        </p:txBody>
      </p:sp>
      <p:sp>
        <p:nvSpPr>
          <p:cNvPr id="13" name="Text 11"/>
          <p:cNvSpPr/>
          <p:nvPr/>
        </p:nvSpPr>
        <p:spPr>
          <a:xfrm>
            <a:off x="4617720" y="3291840"/>
            <a:ext cx="3063240" cy="2377440"/>
          </a:xfrm>
          <a:prstGeom prst="rect">
            <a:avLst/>
          </a:prstGeom>
          <a:noFill/>
          <a:ln/>
        </p:spPr>
        <p:txBody>
          <a:bodyPr wrap="square" rtlCol="0" anchor="ctr"/>
          <a:lstStyle/>
          <a:p>
            <a:pPr indent="0" marL="0">
              <a:lnSpc>
                <a:spcPct val="130000"/>
              </a:lnSpc>
              <a:buNone/>
            </a:pPr>
            <a:r>
              <a:rPr lang="en-US" sz="1300" dirty="0">
                <a:solidFill>
                  <a:srgbClr val="1B1F23"/>
                </a:solidFill>
                <a:latin typeface="Calibri" pitchFamily="34" charset="0"/>
                <a:ea typeface="Calibri" pitchFamily="34" charset="-122"/>
                <a:cs typeface="Calibri" pitchFamily="34" charset="-120"/>
              </a:rPr>
              <a:t>Engineer features, build an sklearn pipeline, defend a loss function, quantify feature importance &amp; confidence, and extend to a deep-learning (LSTM) model served via MLflow.</a:t>
            </a:r>
            <a:endParaRPr lang="en-US" sz="1300" dirty="0"/>
          </a:p>
        </p:txBody>
      </p:sp>
      <p:sp>
        <p:nvSpPr>
          <p:cNvPr id="14" name="Shape 12"/>
          <p:cNvSpPr/>
          <p:nvPr/>
        </p:nvSpPr>
        <p:spPr>
          <a:xfrm>
            <a:off x="8138160" y="1691640"/>
            <a:ext cx="3611880" cy="4206240"/>
          </a:xfrm>
          <a:prstGeom prst="roundRect">
            <a:avLst>
              <a:gd name="adj" fmla="val 2532"/>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15" name="Shape 13"/>
          <p:cNvSpPr/>
          <p:nvPr/>
        </p:nvSpPr>
        <p:spPr>
          <a:xfrm>
            <a:off x="8138160" y="1691640"/>
            <a:ext cx="3611880" cy="109728"/>
          </a:xfrm>
          <a:prstGeom prst="roundRect">
            <a:avLst/>
          </a:prstGeom>
          <a:solidFill>
            <a:srgbClr val="1C7293"/>
          </a:solidFill>
          <a:ln/>
        </p:spPr>
      </p:sp>
      <p:sp>
        <p:nvSpPr>
          <p:cNvPr id="16" name="Text 14"/>
          <p:cNvSpPr/>
          <p:nvPr/>
        </p:nvSpPr>
        <p:spPr>
          <a:xfrm>
            <a:off x="8412480" y="2011680"/>
            <a:ext cx="1828800" cy="822960"/>
          </a:xfrm>
          <a:prstGeom prst="rect">
            <a:avLst/>
          </a:prstGeom>
          <a:noFill/>
          <a:ln/>
        </p:spPr>
        <p:txBody>
          <a:bodyPr wrap="square" rtlCol="0" anchor="ctr"/>
          <a:lstStyle/>
          <a:p>
            <a:pPr indent="0" marL="0">
              <a:buNone/>
            </a:pPr>
            <a:r>
              <a:rPr lang="en-US" sz="4000" b="1" dirty="0">
                <a:solidFill>
                  <a:srgbClr val="E1E8EC"/>
                </a:solidFill>
                <a:latin typeface="Cambria" pitchFamily="34" charset="0"/>
                <a:ea typeface="Cambria" pitchFamily="34" charset="-122"/>
                <a:cs typeface="Cambria" pitchFamily="34" charset="-120"/>
              </a:rPr>
              <a:t>03</a:t>
            </a:r>
            <a:endParaRPr lang="en-US" sz="4000" dirty="0"/>
          </a:p>
        </p:txBody>
      </p:sp>
      <p:sp>
        <p:nvSpPr>
          <p:cNvPr id="17" name="Text 15"/>
          <p:cNvSpPr/>
          <p:nvPr/>
        </p:nvSpPr>
        <p:spPr>
          <a:xfrm>
            <a:off x="8412480" y="2743200"/>
            <a:ext cx="3063240" cy="457200"/>
          </a:xfrm>
          <a:prstGeom prst="rect">
            <a:avLst/>
          </a:prstGeom>
          <a:noFill/>
          <a:ln/>
        </p:spPr>
        <p:txBody>
          <a:bodyPr wrap="square" rtlCol="0" anchor="ctr"/>
          <a:lstStyle/>
          <a:p>
            <a:pPr indent="0" marL="0">
              <a:buNone/>
            </a:pPr>
            <a:r>
              <a:rPr lang="en-US" sz="1900" b="1" dirty="0">
                <a:solidFill>
                  <a:srgbClr val="0B3D62"/>
                </a:solidFill>
                <a:latin typeface="Calibri" pitchFamily="34" charset="0"/>
                <a:ea typeface="Calibri" pitchFamily="34" charset="-122"/>
                <a:cs typeface="Calibri" pitchFamily="34" charset="-120"/>
              </a:rPr>
              <a:t>Serve</a:t>
            </a:r>
            <a:endParaRPr lang="en-US" sz="1900" dirty="0"/>
          </a:p>
        </p:txBody>
      </p:sp>
      <p:sp>
        <p:nvSpPr>
          <p:cNvPr id="18" name="Text 16"/>
          <p:cNvSpPr/>
          <p:nvPr/>
        </p:nvSpPr>
        <p:spPr>
          <a:xfrm>
            <a:off x="8412480" y="3291840"/>
            <a:ext cx="3063240" cy="2377440"/>
          </a:xfrm>
          <a:prstGeom prst="rect">
            <a:avLst/>
          </a:prstGeom>
          <a:noFill/>
          <a:ln/>
        </p:spPr>
        <p:txBody>
          <a:bodyPr wrap="square" rtlCol="0" anchor="ctr"/>
          <a:lstStyle/>
          <a:p>
            <a:pPr indent="0" marL="0">
              <a:lnSpc>
                <a:spcPct val="130000"/>
              </a:lnSpc>
              <a:buNone/>
            </a:pPr>
            <a:r>
              <a:rPr lang="en-US" sz="1300" dirty="0">
                <a:solidFill>
                  <a:srgbClr val="1B1F23"/>
                </a:solidFill>
                <a:latin typeface="Calibri" pitchFamily="34" charset="0"/>
                <a:ea typeface="Calibri" pitchFamily="34" charset="-122"/>
                <a:cs typeface="Calibri" pitchFamily="34" charset="-120"/>
              </a:rPr>
              <a:t>Deliver predictions through a Flask web dashboard so store managers and analysts can query forecasts and download results — no notebook required.</a:t>
            </a:r>
            <a:endParaRPr lang="en-US" sz="1300" dirty="0"/>
          </a:p>
        </p:txBody>
      </p:sp>
      <p:sp>
        <p:nvSpPr>
          <p:cNvPr id="19"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 &amp; FEATURES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The dataset at a glance</a:t>
            </a:r>
            <a:endParaRPr lang="en-US" sz="3000" dirty="0"/>
          </a:p>
        </p:txBody>
      </p:sp>
      <p:sp>
        <p:nvSpPr>
          <p:cNvPr id="4" name="Shape 2"/>
          <p:cNvSpPr/>
          <p:nvPr/>
        </p:nvSpPr>
        <p:spPr>
          <a:xfrm>
            <a:off x="548640" y="1645920"/>
            <a:ext cx="2606040" cy="1371600"/>
          </a:xfrm>
          <a:prstGeom prst="roundRect">
            <a:avLst>
              <a:gd name="adj" fmla="val 6000"/>
            </a:avLst>
          </a:prstGeom>
          <a:solidFill>
            <a:srgbClr val="0B3D62"/>
          </a:solidFill>
          <a:ln/>
        </p:spPr>
      </p:sp>
      <p:sp>
        <p:nvSpPr>
          <p:cNvPr id="5" name="Text 3"/>
          <p:cNvSpPr/>
          <p:nvPr/>
        </p:nvSpPr>
        <p:spPr>
          <a:xfrm>
            <a:off x="685800" y="1783080"/>
            <a:ext cx="2331720" cy="640080"/>
          </a:xfrm>
          <a:prstGeom prst="rect">
            <a:avLst/>
          </a:prstGeom>
          <a:noFill/>
          <a:ln/>
        </p:spPr>
        <p:txBody>
          <a:bodyPr wrap="square"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1,017,209</a:t>
            </a:r>
            <a:endParaRPr lang="en-US" sz="2600" dirty="0"/>
          </a:p>
        </p:txBody>
      </p:sp>
      <p:sp>
        <p:nvSpPr>
          <p:cNvPr id="6" name="Text 4"/>
          <p:cNvSpPr/>
          <p:nvPr/>
        </p:nvSpPr>
        <p:spPr>
          <a:xfrm>
            <a:off x="685800" y="2423160"/>
            <a:ext cx="2331720" cy="548640"/>
          </a:xfrm>
          <a:prstGeom prst="rect">
            <a:avLst/>
          </a:prstGeom>
          <a:noFill/>
          <a:ln/>
        </p:spPr>
        <p:txBody>
          <a:bodyPr wrap="square" rtlCol="0" anchor="ctr"/>
          <a:lstStyle/>
          <a:p>
            <a:pPr indent="0" marL="0">
              <a:buNone/>
            </a:pPr>
            <a:r>
              <a:rPr lang="en-US" sz="1100" dirty="0">
                <a:solidFill>
                  <a:srgbClr val="D7E4EA"/>
                </a:solidFill>
                <a:latin typeface="Calibri" pitchFamily="34" charset="0"/>
                <a:ea typeface="Calibri" pitchFamily="34" charset="-122"/>
                <a:cs typeface="Calibri" pitchFamily="34" charset="-120"/>
              </a:rPr>
              <a:t>Training rows</a:t>
            </a:r>
            <a:endParaRPr lang="en-US" sz="1100" dirty="0"/>
          </a:p>
          <a:p>
            <a:pPr indent="0" marL="0">
              <a:buNone/>
            </a:pPr>
            <a:r>
              <a:rPr lang="en-US" sz="1100" dirty="0">
                <a:solidFill>
                  <a:srgbClr val="D7E4EA"/>
                </a:solidFill>
                <a:latin typeface="Calibri" pitchFamily="34" charset="0"/>
                <a:ea typeface="Calibri" pitchFamily="34" charset="-122"/>
                <a:cs typeface="Calibri" pitchFamily="34" charset="-120"/>
              </a:rPr>
              <a:t>(2013 – 2015)</a:t>
            </a:r>
            <a:endParaRPr lang="en-US" sz="1100" dirty="0"/>
          </a:p>
        </p:txBody>
      </p:sp>
      <p:sp>
        <p:nvSpPr>
          <p:cNvPr id="7" name="Shape 5"/>
          <p:cNvSpPr/>
          <p:nvPr/>
        </p:nvSpPr>
        <p:spPr>
          <a:xfrm>
            <a:off x="3337560" y="1645920"/>
            <a:ext cx="2606040" cy="1371600"/>
          </a:xfrm>
          <a:prstGeom prst="roundRect">
            <a:avLst>
              <a:gd name="adj" fmla="val 6000"/>
            </a:avLst>
          </a:prstGeom>
          <a:solidFill>
            <a:srgbClr val="0B3D62"/>
          </a:solidFill>
          <a:ln/>
        </p:spPr>
      </p:sp>
      <p:sp>
        <p:nvSpPr>
          <p:cNvPr id="8" name="Text 6"/>
          <p:cNvSpPr/>
          <p:nvPr/>
        </p:nvSpPr>
        <p:spPr>
          <a:xfrm>
            <a:off x="3474720" y="1783080"/>
            <a:ext cx="2331720" cy="640080"/>
          </a:xfrm>
          <a:prstGeom prst="rect">
            <a:avLst/>
          </a:prstGeom>
          <a:noFill/>
          <a:ln/>
        </p:spPr>
        <p:txBody>
          <a:bodyPr wrap="square"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1,115</a:t>
            </a:r>
            <a:endParaRPr lang="en-US" sz="2600" dirty="0"/>
          </a:p>
        </p:txBody>
      </p:sp>
      <p:sp>
        <p:nvSpPr>
          <p:cNvPr id="9" name="Text 7"/>
          <p:cNvSpPr/>
          <p:nvPr/>
        </p:nvSpPr>
        <p:spPr>
          <a:xfrm>
            <a:off x="3474720" y="2423160"/>
            <a:ext cx="2331720" cy="548640"/>
          </a:xfrm>
          <a:prstGeom prst="rect">
            <a:avLst/>
          </a:prstGeom>
          <a:noFill/>
          <a:ln/>
        </p:spPr>
        <p:txBody>
          <a:bodyPr wrap="square" rtlCol="0" anchor="ctr"/>
          <a:lstStyle/>
          <a:p>
            <a:pPr indent="0" marL="0">
              <a:buNone/>
            </a:pPr>
            <a:r>
              <a:rPr lang="en-US" sz="1100" dirty="0">
                <a:solidFill>
                  <a:srgbClr val="D7E4EA"/>
                </a:solidFill>
                <a:latin typeface="Calibri" pitchFamily="34" charset="0"/>
                <a:ea typeface="Calibri" pitchFamily="34" charset="-122"/>
                <a:cs typeface="Calibri" pitchFamily="34" charset="-120"/>
              </a:rPr>
              <a:t>Unique stores</a:t>
            </a:r>
            <a:endParaRPr lang="en-US" sz="1100" dirty="0"/>
          </a:p>
        </p:txBody>
      </p:sp>
      <p:sp>
        <p:nvSpPr>
          <p:cNvPr id="10" name="Shape 8"/>
          <p:cNvSpPr/>
          <p:nvPr/>
        </p:nvSpPr>
        <p:spPr>
          <a:xfrm>
            <a:off x="6126480" y="1645920"/>
            <a:ext cx="2606040" cy="1371600"/>
          </a:xfrm>
          <a:prstGeom prst="roundRect">
            <a:avLst>
              <a:gd name="adj" fmla="val 6000"/>
            </a:avLst>
          </a:prstGeom>
          <a:solidFill>
            <a:srgbClr val="0B3D62"/>
          </a:solidFill>
          <a:ln/>
        </p:spPr>
      </p:sp>
      <p:sp>
        <p:nvSpPr>
          <p:cNvPr id="11" name="Text 9"/>
          <p:cNvSpPr/>
          <p:nvPr/>
        </p:nvSpPr>
        <p:spPr>
          <a:xfrm>
            <a:off x="6263640" y="1783080"/>
            <a:ext cx="2331720" cy="640080"/>
          </a:xfrm>
          <a:prstGeom prst="rect">
            <a:avLst/>
          </a:prstGeom>
          <a:noFill/>
          <a:ln/>
        </p:spPr>
        <p:txBody>
          <a:bodyPr wrap="square"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41,088</a:t>
            </a:r>
            <a:endParaRPr lang="en-US" sz="2600" dirty="0"/>
          </a:p>
        </p:txBody>
      </p:sp>
      <p:sp>
        <p:nvSpPr>
          <p:cNvPr id="12" name="Text 10"/>
          <p:cNvSpPr/>
          <p:nvPr/>
        </p:nvSpPr>
        <p:spPr>
          <a:xfrm>
            <a:off x="6263640" y="2423160"/>
            <a:ext cx="2331720" cy="548640"/>
          </a:xfrm>
          <a:prstGeom prst="rect">
            <a:avLst/>
          </a:prstGeom>
          <a:noFill/>
          <a:ln/>
        </p:spPr>
        <p:txBody>
          <a:bodyPr wrap="square" rtlCol="0" anchor="ctr"/>
          <a:lstStyle/>
          <a:p>
            <a:pPr indent="0" marL="0">
              <a:buNone/>
            </a:pPr>
            <a:r>
              <a:rPr lang="en-US" sz="1100" dirty="0">
                <a:solidFill>
                  <a:srgbClr val="D7E4EA"/>
                </a:solidFill>
                <a:latin typeface="Calibri" pitchFamily="34" charset="0"/>
                <a:ea typeface="Calibri" pitchFamily="34" charset="-122"/>
                <a:cs typeface="Calibri" pitchFamily="34" charset="-120"/>
              </a:rPr>
              <a:t>Test rows to forecast</a:t>
            </a:r>
            <a:endParaRPr lang="en-US" sz="1100" dirty="0"/>
          </a:p>
          <a:p>
            <a:pPr indent="0" marL="0">
              <a:buNone/>
            </a:pPr>
            <a:r>
              <a:rPr lang="en-US" sz="1100" dirty="0">
                <a:solidFill>
                  <a:srgbClr val="D7E4EA"/>
                </a:solidFill>
                <a:latin typeface="Calibri" pitchFamily="34" charset="0"/>
                <a:ea typeface="Calibri" pitchFamily="34" charset="-122"/>
                <a:cs typeface="Calibri" pitchFamily="34" charset="-120"/>
              </a:rPr>
              <a:t>(6 weeks ahead)</a:t>
            </a:r>
            <a:endParaRPr lang="en-US" sz="1100" dirty="0"/>
          </a:p>
        </p:txBody>
      </p:sp>
      <p:sp>
        <p:nvSpPr>
          <p:cNvPr id="13" name="Shape 11"/>
          <p:cNvSpPr/>
          <p:nvPr/>
        </p:nvSpPr>
        <p:spPr>
          <a:xfrm>
            <a:off x="8915400" y="1645920"/>
            <a:ext cx="2606040" cy="1371600"/>
          </a:xfrm>
          <a:prstGeom prst="roundRect">
            <a:avLst>
              <a:gd name="adj" fmla="val 6000"/>
            </a:avLst>
          </a:prstGeom>
          <a:solidFill>
            <a:srgbClr val="0B3D62"/>
          </a:solidFill>
          <a:ln/>
        </p:spPr>
      </p:sp>
      <p:sp>
        <p:nvSpPr>
          <p:cNvPr id="14" name="Text 12"/>
          <p:cNvSpPr/>
          <p:nvPr/>
        </p:nvSpPr>
        <p:spPr>
          <a:xfrm>
            <a:off x="9052560" y="1783080"/>
            <a:ext cx="2331720" cy="640080"/>
          </a:xfrm>
          <a:prstGeom prst="rect">
            <a:avLst/>
          </a:prstGeom>
          <a:noFill/>
          <a:ln/>
        </p:spPr>
        <p:txBody>
          <a:bodyPr wrap="square"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18</a:t>
            </a:r>
            <a:endParaRPr lang="en-US" sz="2600" dirty="0"/>
          </a:p>
        </p:txBody>
      </p:sp>
      <p:sp>
        <p:nvSpPr>
          <p:cNvPr id="15" name="Text 13"/>
          <p:cNvSpPr/>
          <p:nvPr/>
        </p:nvSpPr>
        <p:spPr>
          <a:xfrm>
            <a:off x="9052560" y="2423160"/>
            <a:ext cx="2331720" cy="548640"/>
          </a:xfrm>
          <a:prstGeom prst="rect">
            <a:avLst/>
          </a:prstGeom>
          <a:noFill/>
          <a:ln/>
        </p:spPr>
        <p:txBody>
          <a:bodyPr wrap="square" rtlCol="0" anchor="ctr"/>
          <a:lstStyle/>
          <a:p>
            <a:pPr indent="0" marL="0">
              <a:buNone/>
            </a:pPr>
            <a:r>
              <a:rPr lang="en-US" sz="1100" dirty="0">
                <a:solidFill>
                  <a:srgbClr val="D7E4EA"/>
                </a:solidFill>
                <a:latin typeface="Calibri" pitchFamily="34" charset="0"/>
                <a:ea typeface="Calibri" pitchFamily="34" charset="-122"/>
                <a:cs typeface="Calibri" pitchFamily="34" charset="-120"/>
              </a:rPr>
              <a:t>Raw + merged</a:t>
            </a:r>
            <a:endParaRPr lang="en-US" sz="1100" dirty="0"/>
          </a:p>
          <a:p>
            <a:pPr indent="0" marL="0">
              <a:buNone/>
            </a:pPr>
            <a:r>
              <a:rPr lang="en-US" sz="1100" dirty="0">
                <a:solidFill>
                  <a:srgbClr val="D7E4EA"/>
                </a:solidFill>
                <a:latin typeface="Calibri" pitchFamily="34" charset="0"/>
                <a:ea typeface="Calibri" pitchFamily="34" charset="-122"/>
                <a:cs typeface="Calibri" pitchFamily="34" charset="-120"/>
              </a:rPr>
              <a:t>feature columns</a:t>
            </a:r>
            <a:endParaRPr lang="en-US" sz="1100" dirty="0"/>
          </a:p>
        </p:txBody>
      </p:sp>
      <p:sp>
        <p:nvSpPr>
          <p:cNvPr id="16" name="Text 14"/>
          <p:cNvSpPr/>
          <p:nvPr/>
        </p:nvSpPr>
        <p:spPr>
          <a:xfrm>
            <a:off x="548640" y="3291840"/>
            <a:ext cx="457200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Key fields</a:t>
            </a:r>
            <a:endParaRPr lang="en-US" sz="1500" dirty="0"/>
          </a:p>
        </p:txBody>
      </p:sp>
      <p:sp>
        <p:nvSpPr>
          <p:cNvPr id="17" name="Text 15"/>
          <p:cNvSpPr/>
          <p:nvPr/>
        </p:nvSpPr>
        <p:spPr>
          <a:xfrm>
            <a:off x="548640" y="3703320"/>
            <a:ext cx="5212080" cy="2377440"/>
          </a:xfrm>
          <a:prstGeom prst="rect">
            <a:avLst/>
          </a:prstGeom>
          <a:noFill/>
          <a:ln/>
        </p:spPr>
        <p:txBody>
          <a:bodyPr wrap="square" rtlCol="0" anchor="ctr"/>
          <a:lstStyle/>
          <a:p>
            <a:pPr marL="177800" indent="-177800">
              <a:spcAft>
                <a:spcPts val="800"/>
              </a:spcAft>
              <a:buSzPct val="100000"/>
              <a:buChar char="•"/>
            </a:pPr>
            <a:r>
              <a:rPr lang="en-US" sz="1300" dirty="0">
                <a:solidFill>
                  <a:srgbClr val="1B1F23"/>
                </a:solidFill>
                <a:latin typeface="Calibri" pitchFamily="34" charset="0"/>
                <a:ea typeface="Calibri" pitchFamily="34" charset="-122"/>
                <a:cs typeface="Calibri" pitchFamily="34" charset="-120"/>
              </a:rPr>
              <a:t>Sales, Customers — the daily target and traffic</a:t>
            </a:r>
            <a:endParaRPr lang="en-US" sz="1300" dirty="0"/>
          </a:p>
          <a:p>
            <a:pPr marL="177800" indent="-177800">
              <a:spcAft>
                <a:spcPts val="800"/>
              </a:spcAft>
              <a:buSzPct val="100000"/>
              <a:buChar char="•"/>
            </a:pPr>
            <a:r>
              <a:rPr lang="en-US" sz="1300" dirty="0">
                <a:solidFill>
                  <a:srgbClr val="1B1F23"/>
                </a:solidFill>
                <a:latin typeface="Calibri" pitchFamily="34" charset="0"/>
                <a:ea typeface="Calibri" pitchFamily="34" charset="-122"/>
                <a:cs typeface="Calibri" pitchFamily="34" charset="-120"/>
              </a:rPr>
              <a:t>Open, Promo, Promo2, PromoInterval — trading &amp; promo activity</a:t>
            </a:r>
            <a:endParaRPr lang="en-US" sz="1300" dirty="0"/>
          </a:p>
          <a:p>
            <a:pPr marL="177800" indent="-177800">
              <a:spcAft>
                <a:spcPts val="800"/>
              </a:spcAft>
              <a:buSzPct val="100000"/>
              <a:buChar char="•"/>
            </a:pPr>
            <a:r>
              <a:rPr lang="en-US" sz="1300" dirty="0">
                <a:solidFill>
                  <a:srgbClr val="1B1F23"/>
                </a:solidFill>
                <a:latin typeface="Calibri" pitchFamily="34" charset="0"/>
                <a:ea typeface="Calibri" pitchFamily="34" charset="-122"/>
                <a:cs typeface="Calibri" pitchFamily="34" charset="-120"/>
              </a:rPr>
              <a:t>StateHoliday, SchoolHoliday — calendar effects</a:t>
            </a:r>
            <a:endParaRPr lang="en-US" sz="1300" dirty="0"/>
          </a:p>
          <a:p>
            <a:pPr marL="177800" indent="-177800">
              <a:spcAft>
                <a:spcPts val="800"/>
              </a:spcAft>
              <a:buSzPct val="100000"/>
              <a:buChar char="•"/>
            </a:pPr>
            <a:r>
              <a:rPr lang="en-US" sz="1300" dirty="0">
                <a:solidFill>
                  <a:srgbClr val="1B1F23"/>
                </a:solidFill>
                <a:latin typeface="Calibri" pitchFamily="34" charset="0"/>
                <a:ea typeface="Calibri" pitchFamily="34" charset="-122"/>
                <a:cs typeface="Calibri" pitchFamily="34" charset="-120"/>
              </a:rPr>
              <a:t>StoreType, Assortment — store format</a:t>
            </a:r>
            <a:endParaRPr lang="en-US" sz="1300" dirty="0"/>
          </a:p>
          <a:p>
            <a:pPr marL="177800" indent="-177800">
              <a:spcAft>
                <a:spcPts val="800"/>
              </a:spcAft>
              <a:buSzPct val="100000"/>
              <a:buChar char="•"/>
            </a:pPr>
            <a:r>
              <a:rPr lang="en-US" sz="1300" dirty="0">
                <a:solidFill>
                  <a:srgbClr val="1B1F23"/>
                </a:solidFill>
                <a:latin typeface="Calibri" pitchFamily="34" charset="0"/>
                <a:ea typeface="Calibri" pitchFamily="34" charset="-122"/>
                <a:cs typeface="Calibri" pitchFamily="34" charset="-120"/>
              </a:rPr>
              <a:t>CompetitionDistance / OpenSince — local competition</a:t>
            </a:r>
            <a:endParaRPr lang="en-US" sz="1300" dirty="0"/>
          </a:p>
        </p:txBody>
      </p:sp>
      <p:sp>
        <p:nvSpPr>
          <p:cNvPr id="18" name="Text 16"/>
          <p:cNvSpPr/>
          <p:nvPr/>
        </p:nvSpPr>
        <p:spPr>
          <a:xfrm>
            <a:off x="6126480" y="3291840"/>
            <a:ext cx="548640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Data quality issues found &amp; fixed</a:t>
            </a:r>
            <a:endParaRPr lang="en-US" sz="1500" dirty="0"/>
          </a:p>
        </p:txBody>
      </p:sp>
      <p:sp>
        <p:nvSpPr>
          <p:cNvPr id="19" name="Shape 17"/>
          <p:cNvSpPr/>
          <p:nvPr/>
        </p:nvSpPr>
        <p:spPr>
          <a:xfrm>
            <a:off x="6126480" y="3703320"/>
            <a:ext cx="5394960" cy="566928"/>
          </a:xfrm>
          <a:prstGeom prst="roundRect">
            <a:avLst>
              <a:gd name="adj" fmla="val 9677"/>
            </a:avLst>
          </a:prstGeom>
          <a:solidFill>
            <a:srgbClr val="FFFFFF"/>
          </a:solidFill>
          <a:ln w="12700">
            <a:solidFill>
              <a:srgbClr val="E1E8EC"/>
            </a:solidFill>
            <a:prstDash val="solid"/>
          </a:ln>
        </p:spPr>
      </p:sp>
      <p:sp>
        <p:nvSpPr>
          <p:cNvPr id="20" name="Text 18"/>
          <p:cNvSpPr/>
          <p:nvPr/>
        </p:nvSpPr>
        <p:spPr>
          <a:xfrm>
            <a:off x="6263640" y="3758184"/>
            <a:ext cx="5120640" cy="219456"/>
          </a:xfrm>
          <a:prstGeom prst="rect">
            <a:avLst/>
          </a:prstGeom>
          <a:noFill/>
          <a:ln/>
        </p:spPr>
        <p:txBody>
          <a:bodyPr wrap="square"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CompetitionDistance</a:t>
            </a:r>
            <a:endParaRPr lang="en-US" sz="1150" dirty="0"/>
          </a:p>
        </p:txBody>
      </p:sp>
      <p:sp>
        <p:nvSpPr>
          <p:cNvPr id="21" name="Text 19"/>
          <p:cNvSpPr/>
          <p:nvPr/>
        </p:nvSpPr>
        <p:spPr>
          <a:xfrm>
            <a:off x="6263640" y="3968496"/>
            <a:ext cx="5120640" cy="274320"/>
          </a:xfrm>
          <a:prstGeom prst="rect">
            <a:avLst/>
          </a:prstGeom>
          <a:noFill/>
          <a:ln/>
        </p:spPr>
        <p:txBody>
          <a:bodyPr wrap="square" rtlCol="0" anchor="ctr"/>
          <a:lstStyle/>
          <a:p>
            <a:pPr indent="0" marL="0">
              <a:buNone/>
            </a:pPr>
            <a:r>
              <a:rPr lang="en-US" sz="1050" dirty="0">
                <a:solidFill>
                  <a:srgbClr val="5B6770"/>
                </a:solidFill>
                <a:latin typeface="Calibri" pitchFamily="34" charset="0"/>
                <a:ea typeface="Calibri" pitchFamily="34" charset="-122"/>
                <a:cs typeface="Calibri" pitchFamily="34" charset="-120"/>
              </a:rPr>
              <a:t>2,642 missing → filled with 2× max distance (“no known competitor”)</a:t>
            </a:r>
            <a:endParaRPr lang="en-US" sz="1050" dirty="0"/>
          </a:p>
        </p:txBody>
      </p:sp>
      <p:sp>
        <p:nvSpPr>
          <p:cNvPr id="22" name="Shape 20"/>
          <p:cNvSpPr/>
          <p:nvPr/>
        </p:nvSpPr>
        <p:spPr>
          <a:xfrm>
            <a:off x="6126480" y="4361688"/>
            <a:ext cx="5394960" cy="566928"/>
          </a:xfrm>
          <a:prstGeom prst="roundRect">
            <a:avLst>
              <a:gd name="adj" fmla="val 9677"/>
            </a:avLst>
          </a:prstGeom>
          <a:solidFill>
            <a:srgbClr val="FFFFFF"/>
          </a:solidFill>
          <a:ln w="12700">
            <a:solidFill>
              <a:srgbClr val="E1E8EC"/>
            </a:solidFill>
            <a:prstDash val="solid"/>
          </a:ln>
        </p:spPr>
      </p:sp>
      <p:sp>
        <p:nvSpPr>
          <p:cNvPr id="23" name="Text 21"/>
          <p:cNvSpPr/>
          <p:nvPr/>
        </p:nvSpPr>
        <p:spPr>
          <a:xfrm>
            <a:off x="6263640" y="4416552"/>
            <a:ext cx="5120640" cy="219456"/>
          </a:xfrm>
          <a:prstGeom prst="rect">
            <a:avLst/>
          </a:prstGeom>
          <a:noFill/>
          <a:ln/>
        </p:spPr>
        <p:txBody>
          <a:bodyPr wrap="square"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Competitor open date</a:t>
            </a:r>
            <a:endParaRPr lang="en-US" sz="1150" dirty="0"/>
          </a:p>
        </p:txBody>
      </p:sp>
      <p:sp>
        <p:nvSpPr>
          <p:cNvPr id="24" name="Text 22"/>
          <p:cNvSpPr/>
          <p:nvPr/>
        </p:nvSpPr>
        <p:spPr>
          <a:xfrm>
            <a:off x="6263640" y="4626864"/>
            <a:ext cx="5120640" cy="274320"/>
          </a:xfrm>
          <a:prstGeom prst="rect">
            <a:avLst/>
          </a:prstGeom>
          <a:noFill/>
          <a:ln/>
        </p:spPr>
        <p:txBody>
          <a:bodyPr wrap="square" rtlCol="0" anchor="ctr"/>
          <a:lstStyle/>
          <a:p>
            <a:pPr indent="0" marL="0">
              <a:buNone/>
            </a:pPr>
            <a:r>
              <a:rPr lang="en-US" sz="1050" dirty="0">
                <a:solidFill>
                  <a:srgbClr val="5B6770"/>
                </a:solidFill>
                <a:latin typeface="Calibri" pitchFamily="34" charset="0"/>
                <a:ea typeface="Calibri" pitchFamily="34" charset="-122"/>
                <a:cs typeface="Calibri" pitchFamily="34" charset="-120"/>
              </a:rPr>
              <a:t>323,348 missing → median-imputed + HasCompetition flag</a:t>
            </a:r>
            <a:endParaRPr lang="en-US" sz="1050" dirty="0"/>
          </a:p>
        </p:txBody>
      </p:sp>
      <p:sp>
        <p:nvSpPr>
          <p:cNvPr id="25" name="Shape 23"/>
          <p:cNvSpPr/>
          <p:nvPr/>
        </p:nvSpPr>
        <p:spPr>
          <a:xfrm>
            <a:off x="6126480" y="5020056"/>
            <a:ext cx="5394960" cy="566928"/>
          </a:xfrm>
          <a:prstGeom prst="roundRect">
            <a:avLst>
              <a:gd name="adj" fmla="val 9677"/>
            </a:avLst>
          </a:prstGeom>
          <a:solidFill>
            <a:srgbClr val="FFFFFF"/>
          </a:solidFill>
          <a:ln w="12700">
            <a:solidFill>
              <a:srgbClr val="E1E8EC"/>
            </a:solidFill>
            <a:prstDash val="solid"/>
          </a:ln>
        </p:spPr>
      </p:sp>
      <p:sp>
        <p:nvSpPr>
          <p:cNvPr id="26" name="Text 24"/>
          <p:cNvSpPr/>
          <p:nvPr/>
        </p:nvSpPr>
        <p:spPr>
          <a:xfrm>
            <a:off x="6263640" y="5074920"/>
            <a:ext cx="5120640" cy="219456"/>
          </a:xfrm>
          <a:prstGeom prst="rect">
            <a:avLst/>
          </a:prstGeom>
          <a:noFill/>
          <a:ln/>
        </p:spPr>
        <p:txBody>
          <a:bodyPr wrap="square"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Promo2Since / Interval</a:t>
            </a:r>
            <a:endParaRPr lang="en-US" sz="1150" dirty="0"/>
          </a:p>
        </p:txBody>
      </p:sp>
      <p:sp>
        <p:nvSpPr>
          <p:cNvPr id="27" name="Text 25"/>
          <p:cNvSpPr/>
          <p:nvPr/>
        </p:nvSpPr>
        <p:spPr>
          <a:xfrm>
            <a:off x="6263640" y="5285232"/>
            <a:ext cx="5120640" cy="274320"/>
          </a:xfrm>
          <a:prstGeom prst="rect">
            <a:avLst/>
          </a:prstGeom>
          <a:noFill/>
          <a:ln/>
        </p:spPr>
        <p:txBody>
          <a:bodyPr wrap="square" rtlCol="0" anchor="ctr"/>
          <a:lstStyle/>
          <a:p>
            <a:pPr indent="0" marL="0">
              <a:buNone/>
            </a:pPr>
            <a:r>
              <a:rPr lang="en-US" sz="1050" dirty="0">
                <a:solidFill>
                  <a:srgbClr val="5B6770"/>
                </a:solidFill>
                <a:latin typeface="Calibri" pitchFamily="34" charset="0"/>
                <a:ea typeface="Calibri" pitchFamily="34" charset="-122"/>
                <a:cs typeface="Calibri" pitchFamily="34" charset="-120"/>
              </a:rPr>
              <a:t>508,031 missing → store doesn't run Promo2, filled with 0</a:t>
            </a:r>
            <a:endParaRPr lang="en-US" sz="1050" dirty="0"/>
          </a:p>
        </p:txBody>
      </p:sp>
      <p:sp>
        <p:nvSpPr>
          <p:cNvPr id="28" name="Shape 26"/>
          <p:cNvSpPr/>
          <p:nvPr/>
        </p:nvSpPr>
        <p:spPr>
          <a:xfrm>
            <a:off x="6126480" y="5678424"/>
            <a:ext cx="5394960" cy="566928"/>
          </a:xfrm>
          <a:prstGeom prst="roundRect">
            <a:avLst>
              <a:gd name="adj" fmla="val 9677"/>
            </a:avLst>
          </a:prstGeom>
          <a:solidFill>
            <a:srgbClr val="FFFFFF"/>
          </a:solidFill>
          <a:ln w="12700">
            <a:solidFill>
              <a:srgbClr val="E1E8EC"/>
            </a:solidFill>
            <a:prstDash val="solid"/>
          </a:ln>
        </p:spPr>
      </p:sp>
      <p:sp>
        <p:nvSpPr>
          <p:cNvPr id="29" name="Text 27"/>
          <p:cNvSpPr/>
          <p:nvPr/>
        </p:nvSpPr>
        <p:spPr>
          <a:xfrm>
            <a:off x="6263640" y="5733288"/>
            <a:ext cx="5120640" cy="219456"/>
          </a:xfrm>
          <a:prstGeom prst="rect">
            <a:avLst/>
          </a:prstGeom>
          <a:noFill/>
          <a:ln/>
        </p:spPr>
        <p:txBody>
          <a:bodyPr wrap="square"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172,817 closed-store rows</a:t>
            </a:r>
            <a:endParaRPr lang="en-US" sz="1150" dirty="0"/>
          </a:p>
        </p:txBody>
      </p:sp>
      <p:sp>
        <p:nvSpPr>
          <p:cNvPr id="30" name="Text 28"/>
          <p:cNvSpPr/>
          <p:nvPr/>
        </p:nvSpPr>
        <p:spPr>
          <a:xfrm>
            <a:off x="6263640" y="5943600"/>
            <a:ext cx="5120640" cy="274320"/>
          </a:xfrm>
          <a:prstGeom prst="rect">
            <a:avLst/>
          </a:prstGeom>
          <a:noFill/>
          <a:ln/>
        </p:spPr>
        <p:txBody>
          <a:bodyPr wrap="square" rtlCol="0" anchor="ctr"/>
          <a:lstStyle/>
          <a:p>
            <a:pPr indent="0" marL="0">
              <a:buNone/>
            </a:pPr>
            <a:r>
              <a:rPr lang="en-US" sz="1050" dirty="0">
                <a:solidFill>
                  <a:srgbClr val="5B6770"/>
                </a:solidFill>
                <a:latin typeface="Calibri" pitchFamily="34" charset="0"/>
                <a:ea typeface="Calibri" pitchFamily="34" charset="-122"/>
                <a:cs typeface="Calibri" pitchFamily="34" charset="-120"/>
              </a:rPr>
              <a:t>Sales always 0 → dropped before modeling (no signal)</a:t>
            </a:r>
            <a:endParaRPr lang="en-US" sz="1050" dirty="0"/>
          </a:p>
        </p:txBody>
      </p:sp>
      <p:sp>
        <p:nvSpPr>
          <p:cNvPr id="31" name="Text 2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The end-to-end pipeline</a:t>
            </a:r>
            <a:endParaRPr lang="en-US" sz="3000" dirty="0"/>
          </a:p>
        </p:txBody>
      </p:sp>
      <p:sp>
        <p:nvSpPr>
          <p:cNvPr id="4" name="Shape 2"/>
          <p:cNvSpPr/>
          <p:nvPr/>
        </p:nvSpPr>
        <p:spPr>
          <a:xfrm>
            <a:off x="548640" y="2377440"/>
            <a:ext cx="1310596" cy="1188720"/>
          </a:xfrm>
          <a:prstGeom prst="roundRect">
            <a:avLst>
              <a:gd name="adj" fmla="val 6923"/>
            </a:avLst>
          </a:prstGeom>
          <a:solidFill>
            <a:srgbClr val="1C7293"/>
          </a:solidFill>
          <a:ln/>
        </p:spPr>
      </p:sp>
      <p:sp>
        <p:nvSpPr>
          <p:cNvPr id="5" name="Text 3"/>
          <p:cNvSpPr/>
          <p:nvPr/>
        </p:nvSpPr>
        <p:spPr>
          <a:xfrm>
            <a:off x="548640" y="2377440"/>
            <a:ext cx="1310596"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Clean &amp;</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Merge</a:t>
            </a:r>
            <a:endParaRPr lang="en-US" sz="1250" dirty="0"/>
          </a:p>
        </p:txBody>
      </p:sp>
      <p:sp>
        <p:nvSpPr>
          <p:cNvPr id="6" name="Text 4"/>
          <p:cNvSpPr/>
          <p:nvPr/>
        </p:nvSpPr>
        <p:spPr>
          <a:xfrm>
            <a:off x="1859236" y="2377440"/>
            <a:ext cx="320040" cy="1188720"/>
          </a:xfrm>
          <a:prstGeom prst="rect">
            <a:avLst/>
          </a:prstGeom>
          <a:noFill/>
          <a:ln/>
        </p:spPr>
        <p:txBody>
          <a:bodyPr wrap="square" rtlCol="0" anchor="ctr"/>
          <a:lstStyle/>
          <a:p>
            <a:pPr algn="ctr" indent="0" marL="0">
              <a:buNone/>
            </a:pPr>
            <a:r>
              <a:rPr lang="en-US" sz="1600" dirty="0">
                <a:solidFill>
                  <a:srgbClr val="5B6770"/>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179276" y="2377440"/>
            <a:ext cx="1310596" cy="1188720"/>
          </a:xfrm>
          <a:prstGeom prst="roundRect">
            <a:avLst>
              <a:gd name="adj" fmla="val 6923"/>
            </a:avLst>
          </a:prstGeom>
          <a:solidFill>
            <a:srgbClr val="1C7293"/>
          </a:solidFill>
          <a:ln/>
        </p:spPr>
      </p:sp>
      <p:sp>
        <p:nvSpPr>
          <p:cNvPr id="8" name="Text 6"/>
          <p:cNvSpPr/>
          <p:nvPr/>
        </p:nvSpPr>
        <p:spPr>
          <a:xfrm>
            <a:off x="2179276" y="2377440"/>
            <a:ext cx="1310596"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Explore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(EDA)</a:t>
            </a:r>
            <a:endParaRPr lang="en-US" sz="1250" dirty="0"/>
          </a:p>
        </p:txBody>
      </p:sp>
      <p:sp>
        <p:nvSpPr>
          <p:cNvPr id="9" name="Text 7"/>
          <p:cNvSpPr/>
          <p:nvPr/>
        </p:nvSpPr>
        <p:spPr>
          <a:xfrm>
            <a:off x="3489873" y="2377440"/>
            <a:ext cx="320040" cy="1188720"/>
          </a:xfrm>
          <a:prstGeom prst="rect">
            <a:avLst/>
          </a:prstGeom>
          <a:noFill/>
          <a:ln/>
        </p:spPr>
        <p:txBody>
          <a:bodyPr wrap="square" rtlCol="0" anchor="ctr"/>
          <a:lstStyle/>
          <a:p>
            <a:pPr algn="ctr" indent="0" marL="0">
              <a:buNone/>
            </a:pPr>
            <a:r>
              <a:rPr lang="en-US" sz="1600" dirty="0">
                <a:solidFill>
                  <a:srgbClr val="5B677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809913" y="2377440"/>
            <a:ext cx="1310596" cy="1188720"/>
          </a:xfrm>
          <a:prstGeom prst="roundRect">
            <a:avLst>
              <a:gd name="adj" fmla="val 6923"/>
            </a:avLst>
          </a:prstGeom>
          <a:solidFill>
            <a:srgbClr val="1C7293"/>
          </a:solidFill>
          <a:ln/>
        </p:spPr>
      </p:sp>
      <p:sp>
        <p:nvSpPr>
          <p:cNvPr id="11" name="Text 9"/>
          <p:cNvSpPr/>
          <p:nvPr/>
        </p:nvSpPr>
        <p:spPr>
          <a:xfrm>
            <a:off x="3809913" y="2377440"/>
            <a:ext cx="1310596"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Engineer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Features</a:t>
            </a:r>
            <a:endParaRPr lang="en-US" sz="1250" dirty="0"/>
          </a:p>
        </p:txBody>
      </p:sp>
      <p:sp>
        <p:nvSpPr>
          <p:cNvPr id="12" name="Text 10"/>
          <p:cNvSpPr/>
          <p:nvPr/>
        </p:nvSpPr>
        <p:spPr>
          <a:xfrm>
            <a:off x="5120509" y="2377440"/>
            <a:ext cx="320040" cy="1188720"/>
          </a:xfrm>
          <a:prstGeom prst="rect">
            <a:avLst/>
          </a:prstGeom>
          <a:noFill/>
          <a:ln/>
        </p:spPr>
        <p:txBody>
          <a:bodyPr wrap="square" rtlCol="0" anchor="ctr"/>
          <a:lstStyle/>
          <a:p>
            <a:pPr algn="ctr" indent="0" marL="0">
              <a:buNone/>
            </a:pPr>
            <a:r>
              <a:rPr lang="en-US" sz="1600" dirty="0">
                <a:solidFill>
                  <a:srgbClr val="5B6770"/>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40549" y="2377440"/>
            <a:ext cx="1310596" cy="1188720"/>
          </a:xfrm>
          <a:prstGeom prst="roundRect">
            <a:avLst>
              <a:gd name="adj" fmla="val 6923"/>
            </a:avLst>
          </a:prstGeom>
          <a:solidFill>
            <a:srgbClr val="F2A541"/>
          </a:solidFill>
          <a:ln/>
        </p:spPr>
      </p:sp>
      <p:sp>
        <p:nvSpPr>
          <p:cNvPr id="14" name="Text 12"/>
          <p:cNvSpPr/>
          <p:nvPr/>
        </p:nvSpPr>
        <p:spPr>
          <a:xfrm>
            <a:off x="5440549" y="2377440"/>
            <a:ext cx="1310596" cy="1188720"/>
          </a:xfrm>
          <a:prstGeom prst="rect">
            <a:avLst/>
          </a:prstGeom>
          <a:noFill/>
          <a:ln/>
        </p:spPr>
        <p:txBody>
          <a:bodyPr wrap="square" rtlCol="0" anchor="ctr"/>
          <a:lstStyle/>
          <a:p>
            <a:pPr algn="ctr" indent="0" marL="0">
              <a:buNone/>
            </a:pPr>
            <a:r>
              <a:rPr lang="en-US" sz="1250" b="1" dirty="0">
                <a:solidFill>
                  <a:srgbClr val="07263F"/>
                </a:solidFill>
                <a:latin typeface="Calibri" pitchFamily="34" charset="0"/>
                <a:ea typeface="Calibri" pitchFamily="34" charset="-122"/>
                <a:cs typeface="Calibri" pitchFamily="34" charset="-120"/>
              </a:rPr>
              <a:t>Train</a:t>
            </a:r>
            <a:endParaRPr lang="en-US" sz="1250" dirty="0"/>
          </a:p>
          <a:p>
            <a:pPr algn="ctr" indent="0" marL="0">
              <a:buNone/>
            </a:pPr>
            <a:r>
              <a:rPr lang="en-US" sz="1250" b="1" dirty="0">
                <a:solidFill>
                  <a:srgbClr val="07263F"/>
                </a:solidFill>
                <a:latin typeface="Calibri" pitchFamily="34" charset="0"/>
                <a:ea typeface="Calibri" pitchFamily="34" charset="-122"/>
                <a:cs typeface="Calibri" pitchFamily="34" charset="-120"/>
              </a:rPr>
              <a:t>(sklearn)</a:t>
            </a:r>
            <a:endParaRPr lang="en-US" sz="1250" dirty="0"/>
          </a:p>
        </p:txBody>
      </p:sp>
      <p:sp>
        <p:nvSpPr>
          <p:cNvPr id="15" name="Text 13"/>
          <p:cNvSpPr/>
          <p:nvPr/>
        </p:nvSpPr>
        <p:spPr>
          <a:xfrm>
            <a:off x="6751146" y="2377440"/>
            <a:ext cx="320040" cy="1188720"/>
          </a:xfrm>
          <a:prstGeom prst="rect">
            <a:avLst/>
          </a:prstGeom>
          <a:noFill/>
          <a:ln/>
        </p:spPr>
        <p:txBody>
          <a:bodyPr wrap="square" rtlCol="0" anchor="ctr"/>
          <a:lstStyle/>
          <a:p>
            <a:pPr algn="ctr" indent="0" marL="0">
              <a:buNone/>
            </a:pPr>
            <a:r>
              <a:rPr lang="en-US" sz="1600" dirty="0">
                <a:solidFill>
                  <a:srgbClr val="5B677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071186" y="2377440"/>
            <a:ext cx="1310596" cy="1188720"/>
          </a:xfrm>
          <a:prstGeom prst="roundRect">
            <a:avLst>
              <a:gd name="adj" fmla="val 6923"/>
            </a:avLst>
          </a:prstGeom>
          <a:solidFill>
            <a:srgbClr val="1C7293"/>
          </a:solidFill>
          <a:ln/>
        </p:spPr>
      </p:sp>
      <p:sp>
        <p:nvSpPr>
          <p:cNvPr id="17" name="Text 15"/>
          <p:cNvSpPr/>
          <p:nvPr/>
        </p:nvSpPr>
        <p:spPr>
          <a:xfrm>
            <a:off x="7071186" y="2377440"/>
            <a:ext cx="1310596"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Evaluate &amp;</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Explain</a:t>
            </a:r>
            <a:endParaRPr lang="en-US" sz="1250" dirty="0"/>
          </a:p>
        </p:txBody>
      </p:sp>
      <p:sp>
        <p:nvSpPr>
          <p:cNvPr id="18" name="Text 16"/>
          <p:cNvSpPr/>
          <p:nvPr/>
        </p:nvSpPr>
        <p:spPr>
          <a:xfrm>
            <a:off x="8381782" y="2377440"/>
            <a:ext cx="320040" cy="1188720"/>
          </a:xfrm>
          <a:prstGeom prst="rect">
            <a:avLst/>
          </a:prstGeom>
          <a:noFill/>
          <a:ln/>
        </p:spPr>
        <p:txBody>
          <a:bodyPr wrap="square" rtlCol="0" anchor="ctr"/>
          <a:lstStyle/>
          <a:p>
            <a:pPr algn="ctr" indent="0" marL="0">
              <a:buNone/>
            </a:pPr>
            <a:r>
              <a:rPr lang="en-US" sz="1600" dirty="0">
                <a:solidFill>
                  <a:srgbClr val="5B6770"/>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8701822" y="2377440"/>
            <a:ext cx="1310596" cy="1188720"/>
          </a:xfrm>
          <a:prstGeom prst="roundRect">
            <a:avLst>
              <a:gd name="adj" fmla="val 6923"/>
            </a:avLst>
          </a:prstGeom>
          <a:solidFill>
            <a:srgbClr val="1C7293"/>
          </a:solidFill>
          <a:ln/>
        </p:spPr>
      </p:sp>
      <p:sp>
        <p:nvSpPr>
          <p:cNvPr id="20" name="Text 18"/>
          <p:cNvSpPr/>
          <p:nvPr/>
        </p:nvSpPr>
        <p:spPr>
          <a:xfrm>
            <a:off x="8701822" y="2377440"/>
            <a:ext cx="1310596"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Serialize</a:t>
            </a:r>
            <a:endParaRPr lang="en-US" sz="1250" dirty="0"/>
          </a:p>
        </p:txBody>
      </p:sp>
      <p:sp>
        <p:nvSpPr>
          <p:cNvPr id="21" name="Text 19"/>
          <p:cNvSpPr/>
          <p:nvPr/>
        </p:nvSpPr>
        <p:spPr>
          <a:xfrm>
            <a:off x="10012419" y="2377440"/>
            <a:ext cx="320040" cy="1188720"/>
          </a:xfrm>
          <a:prstGeom prst="rect">
            <a:avLst/>
          </a:prstGeom>
          <a:noFill/>
          <a:ln/>
        </p:spPr>
        <p:txBody>
          <a:bodyPr wrap="square" rtlCol="0" anchor="ctr"/>
          <a:lstStyle/>
          <a:p>
            <a:pPr algn="ctr" indent="0" marL="0">
              <a:buNone/>
            </a:pPr>
            <a:r>
              <a:rPr lang="en-US" sz="1600" dirty="0">
                <a:solidFill>
                  <a:srgbClr val="5B6770"/>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10332459" y="2377440"/>
            <a:ext cx="1310596" cy="1188720"/>
          </a:xfrm>
          <a:prstGeom prst="roundRect">
            <a:avLst>
              <a:gd name="adj" fmla="val 6923"/>
            </a:avLst>
          </a:prstGeom>
          <a:solidFill>
            <a:srgbClr val="1C7293"/>
          </a:solidFill>
          <a:ln/>
        </p:spPr>
      </p:sp>
      <p:sp>
        <p:nvSpPr>
          <p:cNvPr id="23" name="Text 21"/>
          <p:cNvSpPr/>
          <p:nvPr/>
        </p:nvSpPr>
        <p:spPr>
          <a:xfrm>
            <a:off x="10332459" y="2377440"/>
            <a:ext cx="1310596" cy="1188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Serve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(Flask)</a:t>
            </a:r>
            <a:endParaRPr lang="en-US" sz="1250" dirty="0"/>
          </a:p>
        </p:txBody>
      </p:sp>
      <p:sp>
        <p:nvSpPr>
          <p:cNvPr id="24" name="Text 22"/>
          <p:cNvSpPr/>
          <p:nvPr/>
        </p:nvSpPr>
        <p:spPr>
          <a:xfrm>
            <a:off x="548640" y="4023360"/>
            <a:ext cx="10241280" cy="822960"/>
          </a:xfrm>
          <a:prstGeom prst="rect">
            <a:avLst/>
          </a:prstGeom>
          <a:noFill/>
          <a:ln/>
        </p:spPr>
        <p:txBody>
          <a:bodyPr wrap="square" rtlCol="0" anchor="ctr"/>
          <a:lstStyle/>
          <a:p>
            <a:pPr indent="0" marL="0">
              <a:lnSpc>
                <a:spcPct val="130000"/>
              </a:lnSpc>
              <a:buNone/>
            </a:pPr>
            <a:r>
              <a:rPr lang="en-US" sz="1400" dirty="0">
                <a:solidFill>
                  <a:srgbClr val="1B1F23"/>
                </a:solidFill>
                <a:latin typeface="Calibri" pitchFamily="34" charset="0"/>
                <a:ea typeface="Calibri" pitchFamily="34" charset="-122"/>
                <a:cs typeface="Calibri" pitchFamily="34" charset="-120"/>
              </a:rPr>
              <a:t>Every stage is logged with Python's logging module and wrapped in reusable functions, so the same feature-engineering and preprocessing code trains the model and serves live predictions — no duplicated logic between notebook and app.</a:t>
            </a:r>
            <a:endParaRPr lang="en-US" sz="1400" dirty="0"/>
          </a:p>
        </p:txBody>
      </p:sp>
      <p:sp>
        <p:nvSpPr>
          <p:cNvPr id="25" name="Shape 23"/>
          <p:cNvSpPr/>
          <p:nvPr/>
        </p:nvSpPr>
        <p:spPr>
          <a:xfrm>
            <a:off x="548640" y="5074920"/>
            <a:ext cx="2066544" cy="1051560"/>
          </a:xfrm>
          <a:prstGeom prst="roundRect">
            <a:avLst>
              <a:gd name="adj" fmla="val 6957"/>
            </a:avLst>
          </a:prstGeom>
          <a:solidFill>
            <a:srgbClr val="FFFFFF"/>
          </a:solidFill>
          <a:ln w="12700">
            <a:solidFill>
              <a:srgbClr val="E1E8EC"/>
            </a:solidFill>
            <a:prstDash val="solid"/>
          </a:ln>
        </p:spPr>
      </p:sp>
      <p:sp>
        <p:nvSpPr>
          <p:cNvPr id="26" name="Text 24"/>
          <p:cNvSpPr/>
          <p:nvPr/>
        </p:nvSpPr>
        <p:spPr>
          <a:xfrm>
            <a:off x="658368" y="5184648"/>
            <a:ext cx="1847088" cy="32004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Pandas / NumPy</a:t>
            </a:r>
            <a:endParaRPr lang="en-US" sz="1200" dirty="0"/>
          </a:p>
        </p:txBody>
      </p:sp>
      <p:sp>
        <p:nvSpPr>
          <p:cNvPr id="27" name="Text 25"/>
          <p:cNvSpPr/>
          <p:nvPr/>
        </p:nvSpPr>
        <p:spPr>
          <a:xfrm>
            <a:off x="658368" y="5513832"/>
            <a:ext cx="1847088" cy="548640"/>
          </a:xfrm>
          <a:prstGeom prst="rect">
            <a:avLst/>
          </a:prstGeom>
          <a:noFill/>
          <a:ln/>
        </p:spPr>
        <p:txBody>
          <a:bodyPr wrap="square" rtlCol="0" anchor="ctr"/>
          <a:lstStyle/>
          <a:p>
            <a:pPr indent="0" marL="0">
              <a:buNone/>
            </a:pPr>
            <a:r>
              <a:rPr lang="en-US" sz="950" dirty="0">
                <a:solidFill>
                  <a:srgbClr val="5B6770"/>
                </a:solidFill>
                <a:latin typeface="Calibri" pitchFamily="34" charset="0"/>
                <a:ea typeface="Calibri" pitchFamily="34" charset="-122"/>
                <a:cs typeface="Calibri" pitchFamily="34" charset="-120"/>
              </a:rPr>
              <a:t>Cleaning &amp; feature engineering</a:t>
            </a:r>
            <a:endParaRPr lang="en-US" sz="950" dirty="0"/>
          </a:p>
        </p:txBody>
      </p:sp>
      <p:sp>
        <p:nvSpPr>
          <p:cNvPr id="28" name="Shape 26"/>
          <p:cNvSpPr/>
          <p:nvPr/>
        </p:nvSpPr>
        <p:spPr>
          <a:xfrm>
            <a:off x="2798064" y="5074920"/>
            <a:ext cx="2066544" cy="1051560"/>
          </a:xfrm>
          <a:prstGeom prst="roundRect">
            <a:avLst>
              <a:gd name="adj" fmla="val 6957"/>
            </a:avLst>
          </a:prstGeom>
          <a:solidFill>
            <a:srgbClr val="FFFFFF"/>
          </a:solidFill>
          <a:ln w="12700">
            <a:solidFill>
              <a:srgbClr val="E1E8EC"/>
            </a:solidFill>
            <a:prstDash val="solid"/>
          </a:ln>
        </p:spPr>
      </p:sp>
      <p:sp>
        <p:nvSpPr>
          <p:cNvPr id="29" name="Text 27"/>
          <p:cNvSpPr/>
          <p:nvPr/>
        </p:nvSpPr>
        <p:spPr>
          <a:xfrm>
            <a:off x="2907792" y="5184648"/>
            <a:ext cx="1847088" cy="32004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scikit-learn</a:t>
            </a:r>
            <a:endParaRPr lang="en-US" sz="1200" dirty="0"/>
          </a:p>
        </p:txBody>
      </p:sp>
      <p:sp>
        <p:nvSpPr>
          <p:cNvPr id="30" name="Text 28"/>
          <p:cNvSpPr/>
          <p:nvPr/>
        </p:nvSpPr>
        <p:spPr>
          <a:xfrm>
            <a:off x="2907792" y="5513832"/>
            <a:ext cx="1847088" cy="548640"/>
          </a:xfrm>
          <a:prstGeom prst="rect">
            <a:avLst/>
          </a:prstGeom>
          <a:noFill/>
          <a:ln/>
        </p:spPr>
        <p:txBody>
          <a:bodyPr wrap="square" rtlCol="0" anchor="ctr"/>
          <a:lstStyle/>
          <a:p>
            <a:pPr indent="0" marL="0">
              <a:buNone/>
            </a:pPr>
            <a:r>
              <a:rPr lang="en-US" sz="950" dirty="0">
                <a:solidFill>
                  <a:srgbClr val="5B6770"/>
                </a:solidFill>
                <a:latin typeface="Calibri" pitchFamily="34" charset="0"/>
                <a:ea typeface="Calibri" pitchFamily="34" charset="-122"/>
                <a:cs typeface="Calibri" pitchFamily="34" charset="-120"/>
              </a:rPr>
              <a:t>Pipeline, ColumnTransformer, RandomForest</a:t>
            </a:r>
            <a:endParaRPr lang="en-US" sz="950" dirty="0"/>
          </a:p>
        </p:txBody>
      </p:sp>
      <p:sp>
        <p:nvSpPr>
          <p:cNvPr id="31" name="Shape 29"/>
          <p:cNvSpPr/>
          <p:nvPr/>
        </p:nvSpPr>
        <p:spPr>
          <a:xfrm>
            <a:off x="5047488" y="5074920"/>
            <a:ext cx="2066544" cy="1051560"/>
          </a:xfrm>
          <a:prstGeom prst="roundRect">
            <a:avLst>
              <a:gd name="adj" fmla="val 6957"/>
            </a:avLst>
          </a:prstGeom>
          <a:solidFill>
            <a:srgbClr val="FFFFFF"/>
          </a:solidFill>
          <a:ln w="12700">
            <a:solidFill>
              <a:srgbClr val="E1E8EC"/>
            </a:solidFill>
            <a:prstDash val="solid"/>
          </a:ln>
        </p:spPr>
      </p:sp>
      <p:sp>
        <p:nvSpPr>
          <p:cNvPr id="32" name="Text 30"/>
          <p:cNvSpPr/>
          <p:nvPr/>
        </p:nvSpPr>
        <p:spPr>
          <a:xfrm>
            <a:off x="5157216" y="5184648"/>
            <a:ext cx="1847088" cy="32004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TensorFlow</a:t>
            </a:r>
            <a:endParaRPr lang="en-US" sz="1200" dirty="0"/>
          </a:p>
        </p:txBody>
      </p:sp>
      <p:sp>
        <p:nvSpPr>
          <p:cNvPr id="33" name="Text 31"/>
          <p:cNvSpPr/>
          <p:nvPr/>
        </p:nvSpPr>
        <p:spPr>
          <a:xfrm>
            <a:off x="5157216" y="5513832"/>
            <a:ext cx="1847088" cy="548640"/>
          </a:xfrm>
          <a:prstGeom prst="rect">
            <a:avLst/>
          </a:prstGeom>
          <a:noFill/>
          <a:ln/>
        </p:spPr>
        <p:txBody>
          <a:bodyPr wrap="square" rtlCol="0" anchor="ctr"/>
          <a:lstStyle/>
          <a:p>
            <a:pPr indent="0" marL="0">
              <a:buNone/>
            </a:pPr>
            <a:r>
              <a:rPr lang="en-US" sz="950" dirty="0">
                <a:solidFill>
                  <a:srgbClr val="5B6770"/>
                </a:solidFill>
                <a:latin typeface="Calibri" pitchFamily="34" charset="0"/>
                <a:ea typeface="Calibri" pitchFamily="34" charset="-122"/>
                <a:cs typeface="Calibri" pitchFamily="34" charset="-120"/>
              </a:rPr>
              <a:t>LSTM deep-learning forecast</a:t>
            </a:r>
            <a:endParaRPr lang="en-US" sz="950" dirty="0"/>
          </a:p>
        </p:txBody>
      </p:sp>
      <p:sp>
        <p:nvSpPr>
          <p:cNvPr id="34" name="Shape 32"/>
          <p:cNvSpPr/>
          <p:nvPr/>
        </p:nvSpPr>
        <p:spPr>
          <a:xfrm>
            <a:off x="7296912" y="5074920"/>
            <a:ext cx="2066544" cy="1051560"/>
          </a:xfrm>
          <a:prstGeom prst="roundRect">
            <a:avLst>
              <a:gd name="adj" fmla="val 6957"/>
            </a:avLst>
          </a:prstGeom>
          <a:solidFill>
            <a:srgbClr val="FFFFFF"/>
          </a:solidFill>
          <a:ln w="12700">
            <a:solidFill>
              <a:srgbClr val="E1E8EC"/>
            </a:solidFill>
            <a:prstDash val="solid"/>
          </a:ln>
        </p:spPr>
      </p:sp>
      <p:sp>
        <p:nvSpPr>
          <p:cNvPr id="35" name="Text 33"/>
          <p:cNvSpPr/>
          <p:nvPr/>
        </p:nvSpPr>
        <p:spPr>
          <a:xfrm>
            <a:off x="7406640" y="5184648"/>
            <a:ext cx="1847088" cy="32004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MLflow</a:t>
            </a:r>
            <a:endParaRPr lang="en-US" sz="1200" dirty="0"/>
          </a:p>
        </p:txBody>
      </p:sp>
      <p:sp>
        <p:nvSpPr>
          <p:cNvPr id="36" name="Text 34"/>
          <p:cNvSpPr/>
          <p:nvPr/>
        </p:nvSpPr>
        <p:spPr>
          <a:xfrm>
            <a:off x="7406640" y="5513832"/>
            <a:ext cx="1847088" cy="548640"/>
          </a:xfrm>
          <a:prstGeom prst="rect">
            <a:avLst/>
          </a:prstGeom>
          <a:noFill/>
          <a:ln/>
        </p:spPr>
        <p:txBody>
          <a:bodyPr wrap="square" rtlCol="0" anchor="ctr"/>
          <a:lstStyle/>
          <a:p>
            <a:pPr indent="0" marL="0">
              <a:buNone/>
            </a:pPr>
            <a:r>
              <a:rPr lang="en-US" sz="950" dirty="0">
                <a:solidFill>
                  <a:srgbClr val="5B6770"/>
                </a:solidFill>
                <a:latin typeface="Calibri" pitchFamily="34" charset="0"/>
                <a:ea typeface="Calibri" pitchFamily="34" charset="-122"/>
                <a:cs typeface="Calibri" pitchFamily="34" charset="-120"/>
              </a:rPr>
              <a:t>Experiment tracking &amp; model serving</a:t>
            </a:r>
            <a:endParaRPr lang="en-US" sz="950" dirty="0"/>
          </a:p>
        </p:txBody>
      </p:sp>
      <p:sp>
        <p:nvSpPr>
          <p:cNvPr id="37" name="Shape 35"/>
          <p:cNvSpPr/>
          <p:nvPr/>
        </p:nvSpPr>
        <p:spPr>
          <a:xfrm>
            <a:off x="9546336" y="5074920"/>
            <a:ext cx="2066544" cy="1051560"/>
          </a:xfrm>
          <a:prstGeom prst="roundRect">
            <a:avLst>
              <a:gd name="adj" fmla="val 6957"/>
            </a:avLst>
          </a:prstGeom>
          <a:solidFill>
            <a:srgbClr val="FFFFFF"/>
          </a:solidFill>
          <a:ln w="12700">
            <a:solidFill>
              <a:srgbClr val="E1E8EC"/>
            </a:solidFill>
            <a:prstDash val="solid"/>
          </a:ln>
        </p:spPr>
      </p:sp>
      <p:sp>
        <p:nvSpPr>
          <p:cNvPr id="38" name="Text 36"/>
          <p:cNvSpPr/>
          <p:nvPr/>
        </p:nvSpPr>
        <p:spPr>
          <a:xfrm>
            <a:off x="9656064" y="5184648"/>
            <a:ext cx="1847088" cy="320040"/>
          </a:xfrm>
          <a:prstGeom prst="rect">
            <a:avLst/>
          </a:prstGeom>
          <a:noFill/>
          <a:ln/>
        </p:spPr>
        <p:txBody>
          <a:bodyPr wrap="square" rtlCol="0" anchor="ctr"/>
          <a:lstStyle/>
          <a:p>
            <a:pPr indent="0" marL="0">
              <a:buNone/>
            </a:pPr>
            <a:r>
              <a:rPr lang="en-US" sz="1200" b="1" dirty="0">
                <a:solidFill>
                  <a:srgbClr val="0B3D62"/>
                </a:solidFill>
                <a:latin typeface="Calibri" pitchFamily="34" charset="0"/>
                <a:ea typeface="Calibri" pitchFamily="34" charset="-122"/>
                <a:cs typeface="Calibri" pitchFamily="34" charset="-120"/>
              </a:rPr>
              <a:t>Flask</a:t>
            </a:r>
            <a:endParaRPr lang="en-US" sz="1200" dirty="0"/>
          </a:p>
        </p:txBody>
      </p:sp>
      <p:sp>
        <p:nvSpPr>
          <p:cNvPr id="39" name="Text 37"/>
          <p:cNvSpPr/>
          <p:nvPr/>
        </p:nvSpPr>
        <p:spPr>
          <a:xfrm>
            <a:off x="9656064" y="5513832"/>
            <a:ext cx="1847088" cy="548640"/>
          </a:xfrm>
          <a:prstGeom prst="rect">
            <a:avLst/>
          </a:prstGeom>
          <a:noFill/>
          <a:ln/>
        </p:spPr>
        <p:txBody>
          <a:bodyPr wrap="square" rtlCol="0" anchor="ctr"/>
          <a:lstStyle/>
          <a:p>
            <a:pPr indent="0" marL="0">
              <a:buNone/>
            </a:pPr>
            <a:r>
              <a:rPr lang="en-US" sz="950" dirty="0">
                <a:solidFill>
                  <a:srgbClr val="5B6770"/>
                </a:solidFill>
                <a:latin typeface="Calibri" pitchFamily="34" charset="0"/>
                <a:ea typeface="Calibri" pitchFamily="34" charset="-122"/>
                <a:cs typeface="Calibri" pitchFamily="34" charset="-120"/>
              </a:rPr>
              <a:t>Web dashboard &amp; REST API</a:t>
            </a:r>
            <a:endParaRPr lang="en-US" sz="950" dirty="0"/>
          </a:p>
        </p:txBody>
      </p:sp>
      <p:sp>
        <p:nvSpPr>
          <p:cNvPr id="40" name="Text 3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EXPLORATORY ANALYSIS — INSIGHT 1</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Promotions grow both traffic and basket size</a:t>
            </a:r>
            <a:endParaRPr lang="en-US" sz="3000" dirty="0"/>
          </a:p>
        </p:txBody>
      </p:sp>
      <p:pic>
        <p:nvPicPr>
          <p:cNvPr id="4" name="Image 0" descr="/home/claude/proj/figs/06_promo_effect.png">    </p:cNvPr>
          <p:cNvPicPr>
            <a:picLocks noChangeAspect="1"/>
          </p:cNvPicPr>
          <p:nvPr/>
        </p:nvPicPr>
        <p:blipFill>
          <a:blip r:embed="rId1"/>
          <a:stretch>
            <a:fillRect/>
          </a:stretch>
        </p:blipFill>
        <p:spPr>
          <a:xfrm>
            <a:off x="5623560" y="1600200"/>
            <a:ext cx="5989320" cy="1901952"/>
          </a:xfrm>
          <a:prstGeom prst="rect">
            <a:avLst/>
          </a:prstGeom>
        </p:spPr>
      </p:pic>
      <p:sp>
        <p:nvSpPr>
          <p:cNvPr id="5" name="Text 2"/>
          <p:cNvSpPr/>
          <p:nvPr/>
        </p:nvSpPr>
        <p:spPr>
          <a:xfrm>
            <a:off x="548640" y="1691640"/>
            <a:ext cx="4754880" cy="1188720"/>
          </a:xfrm>
          <a:prstGeom prst="rect">
            <a:avLst/>
          </a:prstGeom>
          <a:noFill/>
          <a:ln/>
        </p:spPr>
        <p:txBody>
          <a:bodyPr wrap="square" rtlCol="0" anchor="ctr"/>
          <a:lstStyle/>
          <a:p>
            <a:pPr indent="0" marL="0">
              <a:buNone/>
            </a:pPr>
            <a:r>
              <a:rPr lang="en-US" sz="3400" b="1" dirty="0">
                <a:solidFill>
                  <a:srgbClr val="F2A541"/>
                </a:solidFill>
                <a:latin typeface="Cambria" pitchFamily="34" charset="0"/>
                <a:ea typeface="Cambria" pitchFamily="34" charset="-122"/>
                <a:cs typeface="Cambria" pitchFamily="34" charset="-120"/>
              </a:rPr>
              <a:t>+38%</a:t>
            </a:r>
            <a:endParaRPr lang="en-US" sz="3400" dirty="0"/>
          </a:p>
          <a:p>
            <a:pPr indent="0" marL="0">
              <a:buNone/>
            </a:pPr>
            <a:r>
              <a:rPr lang="en-US" sz="1300" dirty="0">
                <a:solidFill>
                  <a:srgbClr val="5B6770"/>
                </a:solidFill>
                <a:latin typeface="Cambria" pitchFamily="34" charset="0"/>
                <a:ea typeface="Cambria" pitchFamily="34" charset="-122"/>
                <a:cs typeface="Cambria" pitchFamily="34" charset="-120"/>
              </a:rPr>
              <a:t>average sales on promo days</a:t>
            </a:r>
            <a:endParaRPr lang="en-US" sz="3400" dirty="0"/>
          </a:p>
        </p:txBody>
      </p:sp>
      <p:sp>
        <p:nvSpPr>
          <p:cNvPr id="6" name="Text 3"/>
          <p:cNvSpPr/>
          <p:nvPr/>
        </p:nvSpPr>
        <p:spPr>
          <a:xfrm>
            <a:off x="548640" y="3017520"/>
            <a:ext cx="4754880" cy="1463040"/>
          </a:xfrm>
          <a:prstGeom prst="rect">
            <a:avLst/>
          </a:prstGeom>
          <a:noFill/>
          <a:ln/>
        </p:spPr>
        <p:txBody>
          <a:bodyPr wrap="square" rtlCol="0" anchor="ctr"/>
          <a:lstStyle/>
          <a:p>
            <a:pPr indent="0" marL="0">
              <a:lnSpc>
                <a:spcPct val="130000"/>
              </a:lnSpc>
              <a:buNone/>
            </a:pPr>
            <a:r>
              <a:rPr lang="en-US" sz="1350" dirty="0">
                <a:solidFill>
                  <a:srgbClr val="1B1F23"/>
                </a:solidFill>
                <a:latin typeface="Calibri" pitchFamily="34" charset="0"/>
                <a:ea typeface="Calibri" pitchFamily="34" charset="-122"/>
                <a:cs typeface="Calibri" pitchFamily="34" charset="-120"/>
              </a:rPr>
              <a:t>Promo days see </a:t>
            </a:r>
            <a:pPr indent="0" marL="0">
              <a:lnSpc>
                <a:spcPct val="130000"/>
              </a:lnSpc>
              <a:buNone/>
            </a:pPr>
            <a:r>
              <a:rPr lang="en-US" sz="1350" b="1" dirty="0">
                <a:solidFill>
                  <a:srgbClr val="0B3D62"/>
                </a:solidFill>
                <a:latin typeface="Calibri" pitchFamily="34" charset="0"/>
                <a:ea typeface="Calibri" pitchFamily="34" charset="-122"/>
                <a:cs typeface="Calibri" pitchFamily="34" charset="-120"/>
              </a:rPr>
              <a:t>+21% more customers</a:t>
            </a:r>
            <a:pPr indent="0" marL="0">
              <a:lnSpc>
                <a:spcPct val="130000"/>
              </a:lnSpc>
              <a:buNone/>
            </a:pPr>
            <a:r>
              <a:rPr lang="en-US" sz="1350" dirty="0">
                <a:solidFill>
                  <a:srgbClr val="1B1F23"/>
                </a:solidFill>
                <a:latin typeface="Calibri" pitchFamily="34" charset="0"/>
                <a:ea typeface="Calibri" pitchFamily="34" charset="-122"/>
                <a:cs typeface="Calibri" pitchFamily="34" charset="-120"/>
              </a:rPr>
              <a:t> and </a:t>
            </a:r>
            <a:pPr indent="0" marL="0">
              <a:lnSpc>
                <a:spcPct val="130000"/>
              </a:lnSpc>
              <a:buNone/>
            </a:pPr>
            <a:r>
              <a:rPr lang="en-US" sz="1350" b="1" dirty="0">
                <a:solidFill>
                  <a:srgbClr val="0B3D62"/>
                </a:solidFill>
                <a:latin typeface="Calibri" pitchFamily="34" charset="0"/>
                <a:ea typeface="Calibri" pitchFamily="34" charset="-122"/>
                <a:cs typeface="Calibri" pitchFamily="34" charset="-120"/>
              </a:rPr>
              <a:t>+15% higher spend per customer</a:t>
            </a:r>
            <a:pPr indent="0" marL="0">
              <a:lnSpc>
                <a:spcPct val="130000"/>
              </a:lnSpc>
              <a:buNone/>
            </a:pPr>
            <a:r>
              <a:rPr lang="en-US" sz="1350" dirty="0">
                <a:solidFill>
                  <a:srgbClr val="1B1F23"/>
                </a:solidFill>
                <a:latin typeface="Calibri" pitchFamily="34" charset="0"/>
                <a:ea typeface="Calibri" pitchFamily="34" charset="-122"/>
                <a:cs typeface="Calibri" pitchFamily="34" charset="-120"/>
              </a:rPr>
              <a:t> — promos genuinely grow the basket, they aren't just shifting demand from non-promo days.</a:t>
            </a:r>
            <a:endParaRPr lang="en-US" sz="1350" dirty="0"/>
          </a:p>
        </p:txBody>
      </p:sp>
      <p:sp>
        <p:nvSpPr>
          <p:cNvPr id="7" name="Shape 4"/>
          <p:cNvSpPr/>
          <p:nvPr/>
        </p:nvSpPr>
        <p:spPr>
          <a:xfrm>
            <a:off x="548640" y="4709160"/>
            <a:ext cx="4754880" cy="1417320"/>
          </a:xfrm>
          <a:prstGeom prst="roundRect">
            <a:avLst>
              <a:gd name="adj" fmla="val 5806"/>
            </a:avLst>
          </a:prstGeom>
          <a:solidFill>
            <a:srgbClr val="0B3D62"/>
          </a:solidFill>
          <a:ln/>
        </p:spPr>
      </p:sp>
      <p:sp>
        <p:nvSpPr>
          <p:cNvPr id="8" name="Text 5"/>
          <p:cNvSpPr/>
          <p:nvPr/>
        </p:nvSpPr>
        <p:spPr>
          <a:xfrm>
            <a:off x="777240" y="4709160"/>
            <a:ext cx="4297680" cy="1417320"/>
          </a:xfrm>
          <a:prstGeom prst="rect">
            <a:avLst/>
          </a:prstGeom>
          <a:noFill/>
          <a:ln/>
        </p:spPr>
        <p:txBody>
          <a:bodyPr wrap="square" rtlCol="0" anchor="ctr"/>
          <a:lstStyle/>
          <a:p>
            <a:pPr indent="0" marL="0">
              <a:lnSpc>
                <a:spcPct val="125000"/>
              </a:lnSpc>
              <a:buNone/>
            </a:pPr>
            <a:r>
              <a:rPr lang="en-US" sz="1250" b="1" dirty="0">
                <a:solidFill>
                  <a:srgbClr val="F2A541"/>
                </a:solidFill>
                <a:latin typeface="Calibri" pitchFamily="34" charset="0"/>
                <a:ea typeface="Calibri" pitchFamily="34" charset="-122"/>
                <a:cs typeface="Calibri" pitchFamily="34" charset="-120"/>
              </a:rPr>
              <a:t>Recommendation:  </a:t>
            </a:r>
            <a:endParaRPr lang="en-US" sz="1250" dirty="0"/>
          </a:p>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Promo lift varies from 0% to +145% across stores — target promo budget at the highest-lift stores instead of a blanket rollout.</a:t>
            </a:r>
            <a:endParaRPr lang="en-US" sz="1250" dirty="0"/>
          </a:p>
        </p:txBody>
      </p:sp>
      <p:sp>
        <p:nvSpPr>
          <p:cNvPr id="9" name="Text 6"/>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EXPLORATORY ANALYSIS — INSIGHT 2</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December drives a sharp seasonal peak</a:t>
            </a:r>
            <a:endParaRPr lang="en-US" sz="3000" dirty="0"/>
          </a:p>
        </p:txBody>
      </p:sp>
      <p:pic>
        <p:nvPicPr>
          <p:cNvPr id="4" name="Image 0" descr="/home/claude/proj/figs/03_monthly_seasonality.png">    </p:cNvPr>
          <p:cNvPicPr>
            <a:picLocks noChangeAspect="1"/>
          </p:cNvPicPr>
          <p:nvPr/>
        </p:nvPicPr>
        <p:blipFill>
          <a:blip r:embed="rId1"/>
          <a:stretch>
            <a:fillRect/>
          </a:stretch>
        </p:blipFill>
        <p:spPr>
          <a:xfrm>
            <a:off x="548640" y="1645920"/>
            <a:ext cx="5394960" cy="3008376"/>
          </a:xfrm>
          <a:prstGeom prst="rect">
            <a:avLst/>
          </a:prstGeom>
        </p:spPr>
      </p:pic>
      <p:pic>
        <p:nvPicPr>
          <p:cNvPr id="5" name="Image 1" descr="/home/claude/proj/figs/04_december_trend.png">    </p:cNvPr>
          <p:cNvPicPr>
            <a:picLocks noChangeAspect="1"/>
          </p:cNvPicPr>
          <p:nvPr/>
        </p:nvPicPr>
        <p:blipFill>
          <a:blip r:embed="rId2"/>
          <a:stretch>
            <a:fillRect/>
          </a:stretch>
        </p:blipFill>
        <p:spPr>
          <a:xfrm>
            <a:off x="6172200" y="1645920"/>
            <a:ext cx="5440680" cy="2697480"/>
          </a:xfrm>
          <a:prstGeom prst="rect">
            <a:avLst/>
          </a:prstGeom>
        </p:spPr>
      </p:pic>
      <p:sp>
        <p:nvSpPr>
          <p:cNvPr id="6" name="Text 2"/>
          <p:cNvSpPr/>
          <p:nvPr/>
        </p:nvSpPr>
        <p:spPr>
          <a:xfrm>
            <a:off x="548640" y="4800600"/>
            <a:ext cx="11064240" cy="1280160"/>
          </a:xfrm>
          <a:prstGeom prst="rect">
            <a:avLst/>
          </a:prstGeom>
          <a:noFill/>
          <a:ln/>
        </p:spPr>
        <p:txBody>
          <a:bodyPr wrap="square" rtlCol="0" anchor="ctr"/>
          <a:lstStyle/>
          <a:p>
            <a:pPr indent="0" marL="0">
              <a:lnSpc>
                <a:spcPct val="130000"/>
              </a:lnSpc>
              <a:buNone/>
            </a:pPr>
            <a:r>
              <a:rPr lang="en-US" sz="1350" dirty="0">
                <a:solidFill>
                  <a:srgbClr val="1B1F23"/>
                </a:solidFill>
                <a:latin typeface="Calibri" pitchFamily="34" charset="0"/>
                <a:ea typeface="Calibri" pitchFamily="34" charset="-122"/>
                <a:cs typeface="Calibri" pitchFamily="34" charset="-120"/>
              </a:rPr>
              <a:t>December sales run </a:t>
            </a:r>
            <a:pPr indent="0" marL="0">
              <a:lnSpc>
                <a:spcPct val="130000"/>
              </a:lnSpc>
              <a:buNone/>
            </a:pPr>
            <a:r>
              <a:rPr lang="en-US" sz="1350" b="1" dirty="0">
                <a:solidFill>
                  <a:srgbClr val="1C7293"/>
                </a:solidFill>
                <a:latin typeface="Calibri" pitchFamily="34" charset="0"/>
                <a:ea typeface="Calibri" pitchFamily="34" charset="-122"/>
                <a:cs typeface="Calibri" pitchFamily="34" charset="-120"/>
              </a:rPr>
              <a:t>~24% above baseline</a:t>
            </a:r>
            <a:pPr indent="0" marL="0">
              <a:lnSpc>
                <a:spcPct val="130000"/>
              </a:lnSpc>
              <a:buNone/>
            </a:pPr>
            <a:r>
              <a:rPr lang="en-US" sz="1350" dirty="0">
                <a:solidFill>
                  <a:srgbClr val="1B1F23"/>
                </a:solidFill>
                <a:latin typeface="Calibri" pitchFamily="34" charset="0"/>
                <a:ea typeface="Calibri" pitchFamily="34" charset="-122"/>
                <a:cs typeface="Calibri" pitchFamily="34" charset="-120"/>
              </a:rPr>
              <a:t>, peaking on Christmas Eve before collapsing as stores close for the 25th–26th. Sales before a holiday run ~7% above the days right after — a clear pre-holiday stock-up pattern worth planning staffing and inventory around.</a:t>
            </a:r>
            <a:endParaRPr lang="en-US" sz="1350" dirty="0"/>
          </a:p>
        </p:txBody>
      </p:sp>
      <p:sp>
        <p:nvSpPr>
          <p:cNvPr id="7" name="Text 3"/>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EXPLORATORY ANALYSIS — INSIGHT 3</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Store format matters more than competitor distance</a:t>
            </a:r>
            <a:endParaRPr lang="en-US" sz="3000" dirty="0"/>
          </a:p>
        </p:txBody>
      </p:sp>
      <p:pic>
        <p:nvPicPr>
          <p:cNvPr id="4" name="Image 0" descr="/home/claude/proj/figs/09_assortment_sales.png">    </p:cNvPr>
          <p:cNvPicPr>
            <a:picLocks noChangeAspect="1"/>
          </p:cNvPicPr>
          <p:nvPr/>
        </p:nvPicPr>
        <p:blipFill>
          <a:blip r:embed="rId1"/>
          <a:stretch>
            <a:fillRect/>
          </a:stretch>
        </p:blipFill>
        <p:spPr>
          <a:xfrm>
            <a:off x="548640" y="1645920"/>
            <a:ext cx="3657600" cy="2624328"/>
          </a:xfrm>
          <a:prstGeom prst="rect">
            <a:avLst/>
          </a:prstGeom>
        </p:spPr>
      </p:pic>
      <p:pic>
        <p:nvPicPr>
          <p:cNvPr id="5" name="Image 1" descr="/home/claude/proj/figs/11_compdist_sales.png">    </p:cNvPr>
          <p:cNvPicPr>
            <a:picLocks noChangeAspect="1"/>
          </p:cNvPicPr>
          <p:nvPr/>
        </p:nvPicPr>
        <p:blipFill>
          <a:blip r:embed="rId2"/>
          <a:stretch>
            <a:fillRect/>
          </a:stretch>
        </p:blipFill>
        <p:spPr>
          <a:xfrm>
            <a:off x="4434840" y="1645920"/>
            <a:ext cx="3977640" cy="2825496"/>
          </a:xfrm>
          <a:prstGeom prst="rect">
            <a:avLst/>
          </a:prstGeom>
        </p:spPr>
      </p:pic>
      <p:sp>
        <p:nvSpPr>
          <p:cNvPr id="6" name="Shape 2"/>
          <p:cNvSpPr/>
          <p:nvPr/>
        </p:nvSpPr>
        <p:spPr>
          <a:xfrm>
            <a:off x="8686800" y="1645920"/>
            <a:ext cx="2926080" cy="1280160"/>
          </a:xfrm>
          <a:prstGeom prst="roundRect">
            <a:avLst>
              <a:gd name="adj" fmla="val 6429"/>
            </a:avLst>
          </a:prstGeom>
          <a:solidFill>
            <a:srgbClr val="FFFFFF"/>
          </a:solidFill>
          <a:ln w="12700">
            <a:solidFill>
              <a:srgbClr val="E1E8EC"/>
            </a:solidFill>
            <a:prstDash val="solid"/>
          </a:ln>
        </p:spPr>
      </p:sp>
      <p:sp>
        <p:nvSpPr>
          <p:cNvPr id="7" name="Text 3"/>
          <p:cNvSpPr/>
          <p:nvPr/>
        </p:nvSpPr>
        <p:spPr>
          <a:xfrm>
            <a:off x="8869680" y="1737360"/>
            <a:ext cx="2560320" cy="502920"/>
          </a:xfrm>
          <a:prstGeom prst="rect">
            <a:avLst/>
          </a:prstGeom>
          <a:noFill/>
          <a:ln/>
        </p:spPr>
        <p:txBody>
          <a:bodyPr wrap="square"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r = 0.82</a:t>
            </a:r>
            <a:endParaRPr lang="en-US" sz="2600" dirty="0"/>
          </a:p>
        </p:txBody>
      </p:sp>
      <p:sp>
        <p:nvSpPr>
          <p:cNvPr id="8" name="Text 4"/>
          <p:cNvSpPr/>
          <p:nvPr/>
        </p:nvSpPr>
        <p:spPr>
          <a:xfrm>
            <a:off x="8869680" y="2286000"/>
            <a:ext cx="2560320" cy="594360"/>
          </a:xfrm>
          <a:prstGeom prst="rect">
            <a:avLst/>
          </a:prstGeom>
          <a:noFill/>
          <a:ln/>
        </p:spPr>
        <p:txBody>
          <a:bodyPr wrap="square" rtlCol="0" anchor="ctr"/>
          <a:lstStyle/>
          <a:p>
            <a:pPr indent="0" marL="0">
              <a:buNone/>
            </a:pPr>
            <a:r>
              <a:rPr lang="en-US" sz="1050" dirty="0">
                <a:solidFill>
                  <a:srgbClr val="5B6770"/>
                </a:solidFill>
                <a:latin typeface="Calibri" pitchFamily="34" charset="0"/>
                <a:ea typeface="Calibri" pitchFamily="34" charset="-122"/>
                <a:cs typeface="Calibri" pitchFamily="34" charset="-120"/>
              </a:rPr>
              <a:t>Sales ↔ Customers correlation — footfall is the dominant driver</a:t>
            </a:r>
            <a:endParaRPr lang="en-US" sz="1050" dirty="0"/>
          </a:p>
        </p:txBody>
      </p:sp>
      <p:sp>
        <p:nvSpPr>
          <p:cNvPr id="9" name="Shape 5"/>
          <p:cNvSpPr/>
          <p:nvPr/>
        </p:nvSpPr>
        <p:spPr>
          <a:xfrm>
            <a:off x="8686800" y="3063240"/>
            <a:ext cx="2926080" cy="1417320"/>
          </a:xfrm>
          <a:prstGeom prst="roundRect">
            <a:avLst>
              <a:gd name="adj" fmla="val 5806"/>
            </a:avLst>
          </a:prstGeom>
          <a:solidFill>
            <a:srgbClr val="FFFFFF"/>
          </a:solidFill>
          <a:ln w="12700">
            <a:solidFill>
              <a:srgbClr val="E1E8EC"/>
            </a:solidFill>
            <a:prstDash val="solid"/>
          </a:ln>
        </p:spPr>
      </p:sp>
      <p:sp>
        <p:nvSpPr>
          <p:cNvPr id="10" name="Text 6"/>
          <p:cNvSpPr/>
          <p:nvPr/>
        </p:nvSpPr>
        <p:spPr>
          <a:xfrm>
            <a:off x="8869680" y="3154680"/>
            <a:ext cx="2560320" cy="502920"/>
          </a:xfrm>
          <a:prstGeom prst="rect">
            <a:avLst/>
          </a:prstGeom>
          <a:noFill/>
          <a:ln/>
        </p:spPr>
        <p:txBody>
          <a:bodyPr wrap="square" rtlCol="0" anchor="ctr"/>
          <a:lstStyle/>
          <a:p>
            <a:pPr indent="0" marL="0">
              <a:buNone/>
            </a:pPr>
            <a:r>
              <a:rPr lang="en-US" sz="2600" b="1" dirty="0">
                <a:solidFill>
                  <a:srgbClr val="F2A541"/>
                </a:solidFill>
                <a:latin typeface="Cambria" pitchFamily="34" charset="0"/>
                <a:ea typeface="Cambria" pitchFamily="34" charset="-122"/>
                <a:cs typeface="Cambria" pitchFamily="34" charset="-120"/>
              </a:rPr>
              <a:t>r = −0.04</a:t>
            </a:r>
            <a:endParaRPr lang="en-US" sz="2600" dirty="0"/>
          </a:p>
        </p:txBody>
      </p:sp>
      <p:sp>
        <p:nvSpPr>
          <p:cNvPr id="11" name="Text 7"/>
          <p:cNvSpPr/>
          <p:nvPr/>
        </p:nvSpPr>
        <p:spPr>
          <a:xfrm>
            <a:off x="8869680" y="3703320"/>
            <a:ext cx="2560320" cy="731520"/>
          </a:xfrm>
          <a:prstGeom prst="rect">
            <a:avLst/>
          </a:prstGeom>
          <a:noFill/>
          <a:ln/>
        </p:spPr>
        <p:txBody>
          <a:bodyPr wrap="square" rtlCol="0" anchor="ctr"/>
          <a:lstStyle/>
          <a:p>
            <a:pPr indent="0" marL="0">
              <a:buNone/>
            </a:pPr>
            <a:r>
              <a:rPr lang="en-US" sz="1050" dirty="0">
                <a:solidFill>
                  <a:srgbClr val="5B6770"/>
                </a:solidFill>
                <a:latin typeface="Calibri" pitchFamily="34" charset="0"/>
                <a:ea typeface="Calibri" pitchFamily="34" charset="-122"/>
                <a:cs typeface="Calibri" pitchFamily="34" charset="-120"/>
              </a:rPr>
              <a:t>Competitor distance is a weak predictor — dense city-centre locations blur pure distance effects</a:t>
            </a:r>
            <a:endParaRPr lang="en-US" sz="1050" dirty="0"/>
          </a:p>
        </p:txBody>
      </p:sp>
      <p:sp>
        <p:nvSpPr>
          <p:cNvPr id="12" name="Text 8"/>
          <p:cNvSpPr/>
          <p:nvPr/>
        </p:nvSpPr>
        <p:spPr>
          <a:xfrm>
            <a:off x="548640" y="4663440"/>
            <a:ext cx="7772400" cy="1371600"/>
          </a:xfrm>
          <a:prstGeom prst="rect">
            <a:avLst/>
          </a:prstGeom>
          <a:noFill/>
          <a:ln/>
        </p:spPr>
        <p:txBody>
          <a:bodyPr wrap="square" rtlCol="0" anchor="ctr"/>
          <a:lstStyle/>
          <a:p>
            <a:pPr indent="0" marL="0">
              <a:lnSpc>
                <a:spcPct val="130000"/>
              </a:lnSpc>
              <a:buNone/>
            </a:pPr>
            <a:r>
              <a:rPr lang="en-US" sz="1350" b="1" dirty="0">
                <a:solidFill>
                  <a:srgbClr val="0B3D62"/>
                </a:solidFill>
                <a:latin typeface="Calibri" pitchFamily="34" charset="0"/>
                <a:ea typeface="Calibri" pitchFamily="34" charset="-122"/>
                <a:cs typeface="Calibri" pitchFamily="34" charset="-120"/>
              </a:rPr>
              <a:t>Assortment “b” (extra) and Store Type “b” </a:t>
            </a:r>
            <a:pPr indent="0" marL="0">
              <a:lnSpc>
                <a:spcPct val="130000"/>
              </a:lnSpc>
              <a:buNone/>
            </a:pPr>
            <a:r>
              <a:rPr lang="en-US" sz="1350" dirty="0">
                <a:solidFill>
                  <a:srgbClr val="1B1F23"/>
                </a:solidFill>
                <a:latin typeface="Calibri" pitchFamily="34" charset="0"/>
                <a:ea typeface="Calibri" pitchFamily="34" charset="-122"/>
                <a:cs typeface="Calibri" pitchFamily="34" charset="-120"/>
              </a:rPr>
              <a:t>stores sell 25–48% more than peers — likely a small set of flagship locations rather than a template every store can copy directly.</a:t>
            </a:r>
            <a:endParaRPr lang="en-US" sz="1350" dirty="0"/>
          </a:p>
        </p:txBody>
      </p:sp>
      <p:sp>
        <p:nvSpPr>
          <p:cNvPr id="13" name="Text 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TASK 2.1 — PREPROCESSING</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From raw fields to model-ready features</a:t>
            </a:r>
            <a:endParaRPr lang="en-US" sz="3000" dirty="0"/>
          </a:p>
        </p:txBody>
      </p:sp>
      <p:sp>
        <p:nvSpPr>
          <p:cNvPr id="4" name="Shape 2"/>
          <p:cNvSpPr/>
          <p:nvPr/>
        </p:nvSpPr>
        <p:spPr>
          <a:xfrm>
            <a:off x="548640" y="1691640"/>
            <a:ext cx="3520440" cy="2651760"/>
          </a:xfrm>
          <a:prstGeom prst="roundRect">
            <a:avLst>
              <a:gd name="adj" fmla="val 3448"/>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5" name="Shape 3"/>
          <p:cNvSpPr/>
          <p:nvPr/>
        </p:nvSpPr>
        <p:spPr>
          <a:xfrm>
            <a:off x="804672" y="1947672"/>
            <a:ext cx="365760" cy="365760"/>
          </a:xfrm>
          <a:prstGeom prst="ellipse">
            <a:avLst/>
          </a:prstGeom>
          <a:solidFill>
            <a:srgbClr val="1C7293"/>
          </a:solidFill>
          <a:ln/>
        </p:spPr>
      </p:sp>
      <p:sp>
        <p:nvSpPr>
          <p:cNvPr id="6" name="Text 4"/>
          <p:cNvSpPr/>
          <p:nvPr/>
        </p:nvSpPr>
        <p:spPr>
          <a:xfrm>
            <a:off x="804672" y="194767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22960" y="2423160"/>
            <a:ext cx="297180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Calendar</a:t>
            </a:r>
            <a:endParaRPr lang="en-US" sz="1500" dirty="0"/>
          </a:p>
        </p:txBody>
      </p:sp>
      <p:sp>
        <p:nvSpPr>
          <p:cNvPr id="8" name="Text 6"/>
          <p:cNvSpPr/>
          <p:nvPr/>
        </p:nvSpPr>
        <p:spPr>
          <a:xfrm>
            <a:off x="822960" y="2880360"/>
            <a:ext cx="2971800" cy="1280160"/>
          </a:xfrm>
          <a:prstGeom prst="rect">
            <a:avLst/>
          </a:prstGeom>
          <a:noFill/>
          <a:ln/>
        </p:spPr>
        <p:txBody>
          <a:bodyPr wrap="square" rtlCol="0" anchor="ctr"/>
          <a:lstStyle/>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Year, Month, Day, WeekOfYear</a:t>
            </a:r>
            <a:endParaRPr lang="en-US" sz="1150" dirty="0"/>
          </a:p>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DayOfWeek, IsWeekend</a:t>
            </a:r>
            <a:endParaRPr lang="en-US" sz="1150" dirty="0"/>
          </a:p>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MonthPhase (begin / mid / end)</a:t>
            </a:r>
            <a:endParaRPr lang="en-US" sz="1150" dirty="0"/>
          </a:p>
        </p:txBody>
      </p:sp>
      <p:sp>
        <p:nvSpPr>
          <p:cNvPr id="9" name="Shape 7"/>
          <p:cNvSpPr/>
          <p:nvPr/>
        </p:nvSpPr>
        <p:spPr>
          <a:xfrm>
            <a:off x="4325112" y="1691640"/>
            <a:ext cx="3520440" cy="2651760"/>
          </a:xfrm>
          <a:prstGeom prst="roundRect">
            <a:avLst>
              <a:gd name="adj" fmla="val 3448"/>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10" name="Shape 8"/>
          <p:cNvSpPr/>
          <p:nvPr/>
        </p:nvSpPr>
        <p:spPr>
          <a:xfrm>
            <a:off x="4581144" y="1947672"/>
            <a:ext cx="365760" cy="365760"/>
          </a:xfrm>
          <a:prstGeom prst="ellipse">
            <a:avLst/>
          </a:prstGeom>
          <a:solidFill>
            <a:srgbClr val="1C7293"/>
          </a:solidFill>
          <a:ln/>
        </p:spPr>
      </p:sp>
      <p:sp>
        <p:nvSpPr>
          <p:cNvPr id="11" name="Text 9"/>
          <p:cNvSpPr/>
          <p:nvPr/>
        </p:nvSpPr>
        <p:spPr>
          <a:xfrm>
            <a:off x="4581144" y="194767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599432" y="2423160"/>
            <a:ext cx="297180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Holiday proximity</a:t>
            </a:r>
            <a:endParaRPr lang="en-US" sz="1500" dirty="0"/>
          </a:p>
        </p:txBody>
      </p:sp>
      <p:sp>
        <p:nvSpPr>
          <p:cNvPr id="13" name="Text 11"/>
          <p:cNvSpPr/>
          <p:nvPr/>
        </p:nvSpPr>
        <p:spPr>
          <a:xfrm>
            <a:off x="4599432" y="2880360"/>
            <a:ext cx="2971800" cy="1280160"/>
          </a:xfrm>
          <a:prstGeom prst="rect">
            <a:avLst/>
          </a:prstGeom>
          <a:noFill/>
          <a:ln/>
        </p:spPr>
        <p:txBody>
          <a:bodyPr wrap="square" rtlCol="0" anchor="ctr"/>
          <a:lstStyle/>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DaysToHoliday</a:t>
            </a:r>
            <a:endParaRPr lang="en-US" sz="1150" dirty="0"/>
          </a:p>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DaysFromHoliday</a:t>
            </a:r>
            <a:endParaRPr lang="en-US" sz="1150" dirty="0"/>
          </a:p>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(computed via nearest-holiday search)</a:t>
            </a:r>
            <a:endParaRPr lang="en-US" sz="1150" dirty="0"/>
          </a:p>
        </p:txBody>
      </p:sp>
      <p:sp>
        <p:nvSpPr>
          <p:cNvPr id="14" name="Shape 12"/>
          <p:cNvSpPr/>
          <p:nvPr/>
        </p:nvSpPr>
        <p:spPr>
          <a:xfrm>
            <a:off x="8101584" y="1691640"/>
            <a:ext cx="3520440" cy="2651760"/>
          </a:xfrm>
          <a:prstGeom prst="roundRect">
            <a:avLst>
              <a:gd name="adj" fmla="val 3448"/>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15" name="Shape 13"/>
          <p:cNvSpPr/>
          <p:nvPr/>
        </p:nvSpPr>
        <p:spPr>
          <a:xfrm>
            <a:off x="8357616" y="1947672"/>
            <a:ext cx="365760" cy="365760"/>
          </a:xfrm>
          <a:prstGeom prst="ellipse">
            <a:avLst/>
          </a:prstGeom>
          <a:solidFill>
            <a:srgbClr val="1C7293"/>
          </a:solidFill>
          <a:ln/>
        </p:spPr>
      </p:sp>
      <p:sp>
        <p:nvSpPr>
          <p:cNvPr id="16" name="Text 14"/>
          <p:cNvSpPr/>
          <p:nvPr/>
        </p:nvSpPr>
        <p:spPr>
          <a:xfrm>
            <a:off x="8357616" y="194767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375904" y="2423160"/>
            <a:ext cx="297180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Competition &amp; Promo2</a:t>
            </a:r>
            <a:endParaRPr lang="en-US" sz="1500" dirty="0"/>
          </a:p>
        </p:txBody>
      </p:sp>
      <p:sp>
        <p:nvSpPr>
          <p:cNvPr id="18" name="Text 16"/>
          <p:cNvSpPr/>
          <p:nvPr/>
        </p:nvSpPr>
        <p:spPr>
          <a:xfrm>
            <a:off x="8375904" y="2880360"/>
            <a:ext cx="2971800" cy="1280160"/>
          </a:xfrm>
          <a:prstGeom prst="rect">
            <a:avLst/>
          </a:prstGeom>
          <a:noFill/>
          <a:ln/>
        </p:spPr>
        <p:txBody>
          <a:bodyPr wrap="square" rtlCol="0" anchor="ctr"/>
          <a:lstStyle/>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CompetitionOpenMonths + HasCompetition flag</a:t>
            </a:r>
            <a:endParaRPr lang="en-US" sz="1150" dirty="0"/>
          </a:p>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Promo2OpenWeeks</a:t>
            </a:r>
            <a:endParaRPr lang="en-US" sz="1150" dirty="0"/>
          </a:p>
          <a:p>
            <a:pPr marL="152400" indent="-152400">
              <a:lnSpc>
                <a:spcPct val="120000"/>
              </a:lnSpc>
              <a:spcAft>
                <a:spcPts val="600"/>
              </a:spcAft>
              <a:buSzPct val="100000"/>
              <a:buChar char="•"/>
            </a:pPr>
            <a:r>
              <a:rPr lang="en-US" sz="1150" dirty="0">
                <a:solidFill>
                  <a:srgbClr val="1B1F23"/>
                </a:solidFill>
                <a:latin typeface="Calibri" pitchFamily="34" charset="0"/>
                <a:ea typeface="Calibri" pitchFamily="34" charset="-122"/>
                <a:cs typeface="Calibri" pitchFamily="34" charset="-120"/>
              </a:rPr>
              <a:t>IsPromo2Month (active interval check)</a:t>
            </a:r>
            <a:endParaRPr lang="en-US" sz="1150" dirty="0"/>
          </a:p>
        </p:txBody>
      </p:sp>
      <p:sp>
        <p:nvSpPr>
          <p:cNvPr id="19" name="Shape 17"/>
          <p:cNvSpPr/>
          <p:nvPr/>
        </p:nvSpPr>
        <p:spPr>
          <a:xfrm>
            <a:off x="548640" y="4663440"/>
            <a:ext cx="11064240" cy="1417320"/>
          </a:xfrm>
          <a:prstGeom prst="roundRect">
            <a:avLst>
              <a:gd name="adj" fmla="val 5806"/>
            </a:avLst>
          </a:prstGeom>
          <a:solidFill>
            <a:srgbClr val="0B3D62"/>
          </a:solidFill>
          <a:ln/>
        </p:spPr>
      </p:sp>
      <p:sp>
        <p:nvSpPr>
          <p:cNvPr id="20" name="Text 18"/>
          <p:cNvSpPr/>
          <p:nvPr/>
        </p:nvSpPr>
        <p:spPr>
          <a:xfrm>
            <a:off x="822960" y="4663440"/>
            <a:ext cx="10515600" cy="1417320"/>
          </a:xfrm>
          <a:prstGeom prst="rect">
            <a:avLst/>
          </a:prstGeom>
          <a:noFill/>
          <a:ln/>
        </p:spPr>
        <p:txBody>
          <a:bodyPr wrap="square" rtlCol="0" anchor="ctr"/>
          <a:lstStyle/>
          <a:p>
            <a:pPr indent="0" marL="0">
              <a:lnSpc>
                <a:spcPct val="125000"/>
              </a:lnSpc>
              <a:buNone/>
            </a:pPr>
            <a:r>
              <a:rPr lang="en-US" sz="1350" b="1" dirty="0">
                <a:solidFill>
                  <a:srgbClr val="F2A541"/>
                </a:solidFill>
                <a:latin typeface="Calibri" pitchFamily="34" charset="0"/>
                <a:ea typeface="Calibri" pitchFamily="34" charset="-122"/>
                <a:cs typeface="Calibri" pitchFamily="34" charset="-120"/>
              </a:rPr>
              <a:t>Preprocessing pipeline:  </a:t>
            </a:r>
            <a:endParaRPr lang="en-US" sz="1350" dirty="0"/>
          </a:p>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numeric features go through StandardScaler; categoricals through One-Hot Encoding — both wrapped in a single sklearn ColumnTransformer + Pipeline so training and serving use exactly the same code path.</a:t>
            </a:r>
            <a:endParaRPr lang="en-US" sz="1350" dirty="0"/>
          </a:p>
        </p:txBody>
      </p:sp>
      <p:sp>
        <p:nvSpPr>
          <p:cNvPr id="21" name="Text 1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TASK 2.2 – 2.3 — MODEL &amp; LOSS FUNCTION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RandomForestRegressor, validated the way it will be used</a:t>
            </a:r>
            <a:endParaRPr lang="en-US" sz="3000" dirty="0"/>
          </a:p>
        </p:txBody>
      </p:sp>
      <p:sp>
        <p:nvSpPr>
          <p:cNvPr id="4" name="Text 2"/>
          <p:cNvSpPr/>
          <p:nvPr/>
        </p:nvSpPr>
        <p:spPr>
          <a:xfrm>
            <a:off x="548640" y="1645920"/>
            <a:ext cx="530352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Validation strategy</a:t>
            </a:r>
            <a:endParaRPr lang="en-US" sz="1500" dirty="0"/>
          </a:p>
        </p:txBody>
      </p:sp>
      <p:sp>
        <p:nvSpPr>
          <p:cNvPr id="5" name="Text 3"/>
          <p:cNvSpPr/>
          <p:nvPr/>
        </p:nvSpPr>
        <p:spPr>
          <a:xfrm>
            <a:off x="548640" y="2057400"/>
            <a:ext cx="5303520" cy="1188720"/>
          </a:xfrm>
          <a:prstGeom prst="rect">
            <a:avLst/>
          </a:prstGeom>
          <a:noFill/>
          <a:ln/>
        </p:spPr>
        <p:txBody>
          <a:bodyPr wrap="square" rtlCol="0" anchor="ctr"/>
          <a:lstStyle/>
          <a:p>
            <a:pPr indent="0" marL="0">
              <a:lnSpc>
                <a:spcPct val="130000"/>
              </a:lnSpc>
              <a:buNone/>
            </a:pPr>
            <a:r>
              <a:rPr lang="en-US" sz="1300" dirty="0">
                <a:solidFill>
                  <a:srgbClr val="1B1F23"/>
                </a:solidFill>
                <a:latin typeface="Calibri" pitchFamily="34" charset="0"/>
                <a:ea typeface="Calibri" pitchFamily="34" charset="-122"/>
                <a:cs typeface="Calibri" pitchFamily="34" charset="-120"/>
              </a:rPr>
              <a:t>A random row split would leak future information into training. Instead, the last 6 weeks of the training window are held out — mirroring exactly how the model forecasts in production.</a:t>
            </a:r>
            <a:endParaRPr lang="en-US" sz="1300" dirty="0"/>
          </a:p>
        </p:txBody>
      </p:sp>
      <p:sp>
        <p:nvSpPr>
          <p:cNvPr id="6" name="Shape 4"/>
          <p:cNvSpPr/>
          <p:nvPr/>
        </p:nvSpPr>
        <p:spPr>
          <a:xfrm>
            <a:off x="548640" y="3246120"/>
            <a:ext cx="4754880" cy="502920"/>
          </a:xfrm>
          <a:prstGeom prst="roundRect">
            <a:avLst>
              <a:gd name="adj" fmla="val 10909"/>
            </a:avLst>
          </a:prstGeom>
          <a:solidFill>
            <a:srgbClr val="1C7293"/>
          </a:solidFill>
          <a:ln/>
        </p:spPr>
      </p:sp>
      <p:sp>
        <p:nvSpPr>
          <p:cNvPr id="7" name="Text 5"/>
          <p:cNvSpPr/>
          <p:nvPr/>
        </p:nvSpPr>
        <p:spPr>
          <a:xfrm>
            <a:off x="640080" y="3246120"/>
            <a:ext cx="4572000" cy="5029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Train: Jan 2013 → mid-Jun 2015</a:t>
            </a:r>
            <a:endParaRPr lang="en-US" sz="1100" dirty="0"/>
          </a:p>
        </p:txBody>
      </p:sp>
      <p:sp>
        <p:nvSpPr>
          <p:cNvPr id="8" name="Shape 6"/>
          <p:cNvSpPr/>
          <p:nvPr/>
        </p:nvSpPr>
        <p:spPr>
          <a:xfrm>
            <a:off x="5303520" y="3246120"/>
            <a:ext cx="1005840" cy="502920"/>
          </a:xfrm>
          <a:prstGeom prst="roundRect">
            <a:avLst>
              <a:gd name="adj" fmla="val 10909"/>
            </a:avLst>
          </a:prstGeom>
          <a:solidFill>
            <a:srgbClr val="F2A541"/>
          </a:solidFill>
          <a:ln/>
        </p:spPr>
      </p:sp>
      <p:sp>
        <p:nvSpPr>
          <p:cNvPr id="9" name="Text 7"/>
          <p:cNvSpPr/>
          <p:nvPr/>
        </p:nvSpPr>
        <p:spPr>
          <a:xfrm>
            <a:off x="5303520" y="3246120"/>
            <a:ext cx="1005840" cy="502920"/>
          </a:xfrm>
          <a:prstGeom prst="rect">
            <a:avLst/>
          </a:prstGeom>
          <a:noFill/>
          <a:ln/>
        </p:spPr>
        <p:txBody>
          <a:bodyPr wrap="square" rtlCol="0" anchor="ctr"/>
          <a:lstStyle/>
          <a:p>
            <a:pPr algn="ctr" indent="0" marL="0">
              <a:buNone/>
            </a:pPr>
            <a:r>
              <a:rPr lang="en-US" sz="950" b="1" dirty="0">
                <a:solidFill>
                  <a:srgbClr val="07263F"/>
                </a:solidFill>
                <a:latin typeface="Calibri" pitchFamily="34" charset="0"/>
                <a:ea typeface="Calibri" pitchFamily="34" charset="-122"/>
                <a:cs typeface="Calibri" pitchFamily="34" charset="-120"/>
              </a:rPr>
              <a:t>6 wks</a:t>
            </a:r>
            <a:endParaRPr lang="en-US" sz="950" dirty="0"/>
          </a:p>
          <a:p>
            <a:pPr algn="ctr" indent="0" marL="0">
              <a:buNone/>
            </a:pPr>
            <a:r>
              <a:rPr lang="en-US" sz="950" b="1" dirty="0">
                <a:solidFill>
                  <a:srgbClr val="07263F"/>
                </a:solidFill>
                <a:latin typeface="Calibri" pitchFamily="34" charset="0"/>
                <a:ea typeface="Calibri" pitchFamily="34" charset="-122"/>
                <a:cs typeface="Calibri" pitchFamily="34" charset="-120"/>
              </a:rPr>
              <a:t>val.</a:t>
            </a:r>
            <a:endParaRPr lang="en-US" sz="950" dirty="0"/>
          </a:p>
        </p:txBody>
      </p:sp>
      <p:sp>
        <p:nvSpPr>
          <p:cNvPr id="10" name="Text 8"/>
          <p:cNvSpPr/>
          <p:nvPr/>
        </p:nvSpPr>
        <p:spPr>
          <a:xfrm>
            <a:off x="548640" y="4160520"/>
            <a:ext cx="530352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Why RMSPE?</a:t>
            </a:r>
            <a:endParaRPr lang="en-US" sz="1500" dirty="0"/>
          </a:p>
        </p:txBody>
      </p:sp>
      <p:sp>
        <p:nvSpPr>
          <p:cNvPr id="11" name="Text 9"/>
          <p:cNvSpPr/>
          <p:nvPr/>
        </p:nvSpPr>
        <p:spPr>
          <a:xfrm>
            <a:off x="548640" y="4572000"/>
            <a:ext cx="5303520" cy="1371600"/>
          </a:xfrm>
          <a:prstGeom prst="rect">
            <a:avLst/>
          </a:prstGeom>
          <a:noFill/>
          <a:ln/>
        </p:spPr>
        <p:txBody>
          <a:bodyPr wrap="square" rtlCol="0" anchor="ctr"/>
          <a:lstStyle/>
          <a:p>
            <a:pPr marL="152400" indent="-152400">
              <a:lnSpc>
                <a:spcPct val="125000"/>
              </a:lnSpc>
              <a:spcAft>
                <a:spcPts val="600"/>
              </a:spcAft>
              <a:buSzPct val="100000"/>
              <a:buChar char="•"/>
            </a:pPr>
            <a:r>
              <a:rPr lang="en-US" sz="1250" dirty="0">
                <a:solidFill>
                  <a:srgbClr val="1B1F23"/>
                </a:solidFill>
                <a:latin typeface="Calibri" pitchFamily="34" charset="0"/>
                <a:ea typeface="Calibri" pitchFamily="34" charset="-122"/>
                <a:cs typeface="Calibri" pitchFamily="34" charset="-120"/>
              </a:rPr>
              <a:t>Scale-independent — fair across €500 and €5,000-a-day stores</a:t>
            </a:r>
            <a:endParaRPr lang="en-US" sz="1250" dirty="0"/>
          </a:p>
          <a:p>
            <a:pPr marL="152400" indent="-152400">
              <a:lnSpc>
                <a:spcPct val="125000"/>
              </a:lnSpc>
              <a:spcAft>
                <a:spcPts val="600"/>
              </a:spcAft>
              <a:buSzPct val="100000"/>
              <a:buChar char="•"/>
            </a:pPr>
            <a:r>
              <a:rPr lang="en-US" sz="1250" dirty="0">
                <a:solidFill>
                  <a:srgbClr val="1B1F23"/>
                </a:solidFill>
                <a:latin typeface="Calibri" pitchFamily="34" charset="0"/>
                <a:ea typeface="Calibri" pitchFamily="34" charset="-122"/>
                <a:cs typeface="Calibri" pitchFamily="34" charset="-120"/>
              </a:rPr>
              <a:t>Directly interpretable: “forecast typically off by X%”</a:t>
            </a:r>
            <a:endParaRPr lang="en-US" sz="1250" dirty="0"/>
          </a:p>
          <a:p>
            <a:pPr marL="152400" indent="-152400">
              <a:lnSpc>
                <a:spcPct val="125000"/>
              </a:lnSpc>
              <a:spcAft>
                <a:spcPts val="600"/>
              </a:spcAft>
              <a:buSzPct val="100000"/>
              <a:buChar char="•"/>
            </a:pPr>
            <a:r>
              <a:rPr lang="en-US" sz="1250" dirty="0">
                <a:solidFill>
                  <a:srgbClr val="1B1F23"/>
                </a:solidFill>
                <a:latin typeface="Calibri" pitchFamily="34" charset="0"/>
                <a:ea typeface="Calibri" pitchFamily="34" charset="-122"/>
                <a:cs typeface="Calibri" pitchFamily="34" charset="-120"/>
              </a:rPr>
              <a:t>The original Rossmann competition's own metric</a:t>
            </a:r>
            <a:endParaRPr lang="en-US" sz="1250" dirty="0"/>
          </a:p>
        </p:txBody>
      </p:sp>
      <p:sp>
        <p:nvSpPr>
          <p:cNvPr id="12" name="Shape 10"/>
          <p:cNvSpPr/>
          <p:nvPr/>
        </p:nvSpPr>
        <p:spPr>
          <a:xfrm>
            <a:off x="6263640" y="1645920"/>
            <a:ext cx="5349240" cy="4297680"/>
          </a:xfrm>
          <a:prstGeom prst="roundRect">
            <a:avLst>
              <a:gd name="adj" fmla="val 2128"/>
            </a:avLst>
          </a:prstGeom>
          <a:solidFill>
            <a:srgbClr val="0B3D62"/>
          </a:solidFill>
          <a:ln/>
        </p:spPr>
      </p:sp>
      <p:sp>
        <p:nvSpPr>
          <p:cNvPr id="13" name="Text 11"/>
          <p:cNvSpPr/>
          <p:nvPr/>
        </p:nvSpPr>
        <p:spPr>
          <a:xfrm>
            <a:off x="6537960" y="1874520"/>
            <a:ext cx="4846320" cy="45720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RandomForestRegressor</a:t>
            </a:r>
            <a:endParaRPr lang="en-US" sz="1900" dirty="0"/>
          </a:p>
        </p:txBody>
      </p:sp>
      <p:sp>
        <p:nvSpPr>
          <p:cNvPr id="14" name="Text 12"/>
          <p:cNvSpPr/>
          <p:nvPr/>
        </p:nvSpPr>
        <p:spPr>
          <a:xfrm>
            <a:off x="6537960" y="2331720"/>
            <a:ext cx="4846320" cy="320040"/>
          </a:xfrm>
          <a:prstGeom prst="rect">
            <a:avLst/>
          </a:prstGeom>
          <a:noFill/>
          <a:ln/>
        </p:spPr>
        <p:txBody>
          <a:bodyPr wrap="square" rtlCol="0" anchor="ctr"/>
          <a:lstStyle/>
          <a:p>
            <a:pPr indent="0" marL="0">
              <a:buNone/>
            </a:pPr>
            <a:r>
              <a:rPr lang="en-US" sz="1200" i="1" dirty="0">
                <a:solidFill>
                  <a:srgbClr val="9FD8CB"/>
                </a:solidFill>
                <a:latin typeface="Calibri" pitchFamily="34" charset="0"/>
                <a:ea typeface="Calibri" pitchFamily="34" charset="-122"/>
                <a:cs typeface="Calibri" pitchFamily="34" charset="-120"/>
              </a:rPr>
              <a:t>wrapped in an sklearn Pipeline</a:t>
            </a:r>
            <a:endParaRPr lang="en-US" sz="1200" dirty="0"/>
          </a:p>
        </p:txBody>
      </p:sp>
      <p:sp>
        <p:nvSpPr>
          <p:cNvPr id="15" name="Text 13"/>
          <p:cNvSpPr/>
          <p:nvPr/>
        </p:nvSpPr>
        <p:spPr>
          <a:xfrm>
            <a:off x="6537960" y="2834640"/>
            <a:ext cx="1920240" cy="411480"/>
          </a:xfrm>
          <a:prstGeom prst="rect">
            <a:avLst/>
          </a:prstGeom>
          <a:noFill/>
          <a:ln/>
        </p:spPr>
        <p:txBody>
          <a:bodyPr wrap="square" rtlCol="0" anchor="ctr"/>
          <a:lstStyle/>
          <a:p>
            <a:pPr indent="0" marL="0">
              <a:buNone/>
            </a:pPr>
            <a:r>
              <a:rPr lang="en-US" sz="1200" b="1" dirty="0">
                <a:solidFill>
                  <a:srgbClr val="F2A541"/>
                </a:solidFill>
                <a:latin typeface="Calibri" pitchFamily="34" charset="0"/>
                <a:ea typeface="Calibri" pitchFamily="34" charset="-122"/>
                <a:cs typeface="Calibri" pitchFamily="34" charset="-120"/>
              </a:rPr>
              <a:t>Target</a:t>
            </a:r>
            <a:endParaRPr lang="en-US" sz="1200" dirty="0"/>
          </a:p>
        </p:txBody>
      </p:sp>
      <p:sp>
        <p:nvSpPr>
          <p:cNvPr id="16" name="Text 14"/>
          <p:cNvSpPr/>
          <p:nvPr/>
        </p:nvSpPr>
        <p:spPr>
          <a:xfrm>
            <a:off x="8412480" y="2834640"/>
            <a:ext cx="3017520" cy="411480"/>
          </a:xfrm>
          <a:prstGeom prst="rect">
            <a:avLst/>
          </a:prstGeom>
          <a:noFill/>
          <a:ln/>
        </p:spPr>
        <p:txBody>
          <a:bodyPr wrap="square" rtlCol="0" anchor="ctr"/>
          <a:lstStyle/>
          <a:p>
            <a:pPr indent="0" marL="0">
              <a:buNone/>
            </a:pPr>
            <a:r>
              <a:rPr lang="en-US" sz="1100" dirty="0">
                <a:solidFill>
                  <a:srgbClr val="E8EEF1"/>
                </a:solidFill>
                <a:latin typeface="Calibri" pitchFamily="34" charset="0"/>
                <a:ea typeface="Calibri" pitchFamily="34" charset="-122"/>
                <a:cs typeface="Calibri" pitchFamily="34" charset="-120"/>
              </a:rPr>
              <a:t>log1p(Sales) — stabilizes variance across store sizes</a:t>
            </a:r>
            <a:endParaRPr lang="en-US" sz="1100" dirty="0"/>
          </a:p>
        </p:txBody>
      </p:sp>
      <p:sp>
        <p:nvSpPr>
          <p:cNvPr id="17" name="Text 15"/>
          <p:cNvSpPr/>
          <p:nvPr/>
        </p:nvSpPr>
        <p:spPr>
          <a:xfrm>
            <a:off x="6537960" y="3273552"/>
            <a:ext cx="1920240" cy="411480"/>
          </a:xfrm>
          <a:prstGeom prst="rect">
            <a:avLst/>
          </a:prstGeom>
          <a:noFill/>
          <a:ln/>
        </p:spPr>
        <p:txBody>
          <a:bodyPr wrap="square" rtlCol="0" anchor="ctr"/>
          <a:lstStyle/>
          <a:p>
            <a:pPr indent="0" marL="0">
              <a:buNone/>
            </a:pPr>
            <a:r>
              <a:rPr lang="en-US" sz="1200" b="1" dirty="0">
                <a:solidFill>
                  <a:srgbClr val="F2A541"/>
                </a:solidFill>
                <a:latin typeface="Calibri" pitchFamily="34" charset="0"/>
                <a:ea typeface="Calibri" pitchFamily="34" charset="-122"/>
                <a:cs typeface="Calibri" pitchFamily="34" charset="-120"/>
              </a:rPr>
              <a:t>n_estimators</a:t>
            </a:r>
            <a:endParaRPr lang="en-US" sz="1200" dirty="0"/>
          </a:p>
        </p:txBody>
      </p:sp>
      <p:sp>
        <p:nvSpPr>
          <p:cNvPr id="18" name="Text 16"/>
          <p:cNvSpPr/>
          <p:nvPr/>
        </p:nvSpPr>
        <p:spPr>
          <a:xfrm>
            <a:off x="8412480" y="3273552"/>
            <a:ext cx="3017520" cy="411480"/>
          </a:xfrm>
          <a:prstGeom prst="rect">
            <a:avLst/>
          </a:prstGeom>
          <a:noFill/>
          <a:ln/>
        </p:spPr>
        <p:txBody>
          <a:bodyPr wrap="square" rtlCol="0" anchor="ctr"/>
          <a:lstStyle/>
          <a:p>
            <a:pPr indent="0" marL="0">
              <a:buNone/>
            </a:pPr>
            <a:r>
              <a:rPr lang="en-US" sz="1100" dirty="0">
                <a:solidFill>
                  <a:srgbClr val="E8EEF1"/>
                </a:solidFill>
                <a:latin typeface="Calibri" pitchFamily="34" charset="0"/>
                <a:ea typeface="Calibri" pitchFamily="34" charset="-122"/>
                <a:cs typeface="Calibri" pitchFamily="34" charset="-120"/>
              </a:rPr>
              <a:t>200 trees</a:t>
            </a:r>
            <a:endParaRPr lang="en-US" sz="1100" dirty="0"/>
          </a:p>
        </p:txBody>
      </p:sp>
      <p:sp>
        <p:nvSpPr>
          <p:cNvPr id="19" name="Text 17"/>
          <p:cNvSpPr/>
          <p:nvPr/>
        </p:nvSpPr>
        <p:spPr>
          <a:xfrm>
            <a:off x="6537960" y="3712464"/>
            <a:ext cx="1920240" cy="411480"/>
          </a:xfrm>
          <a:prstGeom prst="rect">
            <a:avLst/>
          </a:prstGeom>
          <a:noFill/>
          <a:ln/>
        </p:spPr>
        <p:txBody>
          <a:bodyPr wrap="square" rtlCol="0" anchor="ctr"/>
          <a:lstStyle/>
          <a:p>
            <a:pPr indent="0" marL="0">
              <a:buNone/>
            </a:pPr>
            <a:r>
              <a:rPr lang="en-US" sz="1200" b="1" dirty="0">
                <a:solidFill>
                  <a:srgbClr val="F2A541"/>
                </a:solidFill>
                <a:latin typeface="Calibri" pitchFamily="34" charset="0"/>
                <a:ea typeface="Calibri" pitchFamily="34" charset="-122"/>
                <a:cs typeface="Calibri" pitchFamily="34" charset="-120"/>
              </a:rPr>
              <a:t>max_depth</a:t>
            </a:r>
            <a:endParaRPr lang="en-US" sz="1200" dirty="0"/>
          </a:p>
        </p:txBody>
      </p:sp>
      <p:sp>
        <p:nvSpPr>
          <p:cNvPr id="20" name="Text 18"/>
          <p:cNvSpPr/>
          <p:nvPr/>
        </p:nvSpPr>
        <p:spPr>
          <a:xfrm>
            <a:off x="8412480" y="3712464"/>
            <a:ext cx="3017520" cy="411480"/>
          </a:xfrm>
          <a:prstGeom prst="rect">
            <a:avLst/>
          </a:prstGeom>
          <a:noFill/>
          <a:ln/>
        </p:spPr>
        <p:txBody>
          <a:bodyPr wrap="square" rtlCol="0" anchor="ctr"/>
          <a:lstStyle/>
          <a:p>
            <a:pPr indent="0" marL="0">
              <a:buNone/>
            </a:pPr>
            <a:r>
              <a:rPr lang="en-US" sz="1100" dirty="0">
                <a:solidFill>
                  <a:srgbClr val="E8EEF1"/>
                </a:solidFill>
                <a:latin typeface="Calibri" pitchFamily="34" charset="0"/>
                <a:ea typeface="Calibri" pitchFamily="34" charset="-122"/>
                <a:cs typeface="Calibri" pitchFamily="34" charset="-120"/>
              </a:rPr>
              <a:t>20</a:t>
            </a:r>
            <a:endParaRPr lang="en-US" sz="1100" dirty="0"/>
          </a:p>
        </p:txBody>
      </p:sp>
      <p:sp>
        <p:nvSpPr>
          <p:cNvPr id="21" name="Text 19"/>
          <p:cNvSpPr/>
          <p:nvPr/>
        </p:nvSpPr>
        <p:spPr>
          <a:xfrm>
            <a:off x="6537960" y="4151376"/>
            <a:ext cx="1920240" cy="411480"/>
          </a:xfrm>
          <a:prstGeom prst="rect">
            <a:avLst/>
          </a:prstGeom>
          <a:noFill/>
          <a:ln/>
        </p:spPr>
        <p:txBody>
          <a:bodyPr wrap="square" rtlCol="0" anchor="ctr"/>
          <a:lstStyle/>
          <a:p>
            <a:pPr indent="0" marL="0">
              <a:buNone/>
            </a:pPr>
            <a:r>
              <a:rPr lang="en-US" sz="1200" b="1" dirty="0">
                <a:solidFill>
                  <a:srgbClr val="F2A541"/>
                </a:solidFill>
                <a:latin typeface="Calibri" pitchFamily="34" charset="0"/>
                <a:ea typeface="Calibri" pitchFamily="34" charset="-122"/>
                <a:cs typeface="Calibri" pitchFamily="34" charset="-120"/>
              </a:rPr>
              <a:t>min_samples_leaf</a:t>
            </a:r>
            <a:endParaRPr lang="en-US" sz="1200" dirty="0"/>
          </a:p>
        </p:txBody>
      </p:sp>
      <p:sp>
        <p:nvSpPr>
          <p:cNvPr id="22" name="Text 20"/>
          <p:cNvSpPr/>
          <p:nvPr/>
        </p:nvSpPr>
        <p:spPr>
          <a:xfrm>
            <a:off x="8412480" y="4151376"/>
            <a:ext cx="3017520" cy="411480"/>
          </a:xfrm>
          <a:prstGeom prst="rect">
            <a:avLst/>
          </a:prstGeom>
          <a:noFill/>
          <a:ln/>
        </p:spPr>
        <p:txBody>
          <a:bodyPr wrap="square" rtlCol="0" anchor="ctr"/>
          <a:lstStyle/>
          <a:p>
            <a:pPr indent="0" marL="0">
              <a:buNone/>
            </a:pPr>
            <a:r>
              <a:rPr lang="en-US" sz="1100" dirty="0">
                <a:solidFill>
                  <a:srgbClr val="E8EEF1"/>
                </a:solidFill>
                <a:latin typeface="Calibri" pitchFamily="34" charset="0"/>
                <a:ea typeface="Calibri" pitchFamily="34" charset="-122"/>
                <a:cs typeface="Calibri" pitchFamily="34" charset="-120"/>
              </a:rPr>
              <a:t>3</a:t>
            </a:r>
            <a:endParaRPr lang="en-US" sz="1100" dirty="0"/>
          </a:p>
        </p:txBody>
      </p:sp>
      <p:sp>
        <p:nvSpPr>
          <p:cNvPr id="23" name="Text 21"/>
          <p:cNvSpPr/>
          <p:nvPr/>
        </p:nvSpPr>
        <p:spPr>
          <a:xfrm>
            <a:off x="6537960" y="4590288"/>
            <a:ext cx="1920240" cy="411480"/>
          </a:xfrm>
          <a:prstGeom prst="rect">
            <a:avLst/>
          </a:prstGeom>
          <a:noFill/>
          <a:ln/>
        </p:spPr>
        <p:txBody>
          <a:bodyPr wrap="square" rtlCol="0" anchor="ctr"/>
          <a:lstStyle/>
          <a:p>
            <a:pPr indent="0" marL="0">
              <a:buNone/>
            </a:pPr>
            <a:r>
              <a:rPr lang="en-US" sz="1200" b="1" dirty="0">
                <a:solidFill>
                  <a:srgbClr val="F2A541"/>
                </a:solidFill>
                <a:latin typeface="Calibri" pitchFamily="34" charset="0"/>
                <a:ea typeface="Calibri" pitchFamily="34" charset="-122"/>
                <a:cs typeface="Calibri" pitchFamily="34" charset="-120"/>
              </a:rPr>
              <a:t>Primary metric</a:t>
            </a:r>
            <a:endParaRPr lang="en-US" sz="1200" dirty="0"/>
          </a:p>
        </p:txBody>
      </p:sp>
      <p:sp>
        <p:nvSpPr>
          <p:cNvPr id="24" name="Text 22"/>
          <p:cNvSpPr/>
          <p:nvPr/>
        </p:nvSpPr>
        <p:spPr>
          <a:xfrm>
            <a:off x="8412480" y="4590288"/>
            <a:ext cx="3017520" cy="411480"/>
          </a:xfrm>
          <a:prstGeom prst="rect">
            <a:avLst/>
          </a:prstGeom>
          <a:noFill/>
          <a:ln/>
        </p:spPr>
        <p:txBody>
          <a:bodyPr wrap="square" rtlCol="0" anchor="ctr"/>
          <a:lstStyle/>
          <a:p>
            <a:pPr indent="0" marL="0">
              <a:buNone/>
            </a:pPr>
            <a:r>
              <a:rPr lang="en-US" sz="1100" dirty="0">
                <a:solidFill>
                  <a:srgbClr val="E8EEF1"/>
                </a:solidFill>
                <a:latin typeface="Calibri" pitchFamily="34" charset="0"/>
                <a:ea typeface="Calibri" pitchFamily="34" charset="-122"/>
                <a:cs typeface="Calibri" pitchFamily="34" charset="-120"/>
              </a:rPr>
              <a:t>RMSPE (Root Mean Squared % Error)</a:t>
            </a:r>
            <a:endParaRPr lang="en-US" sz="1100" dirty="0"/>
          </a:p>
        </p:txBody>
      </p:sp>
      <p:sp>
        <p:nvSpPr>
          <p:cNvPr id="25" name="Text 23"/>
          <p:cNvSpPr/>
          <p:nvPr/>
        </p:nvSpPr>
        <p:spPr>
          <a:xfrm>
            <a:off x="6537960" y="5029200"/>
            <a:ext cx="1920240" cy="411480"/>
          </a:xfrm>
          <a:prstGeom prst="rect">
            <a:avLst/>
          </a:prstGeom>
          <a:noFill/>
          <a:ln/>
        </p:spPr>
        <p:txBody>
          <a:bodyPr wrap="square" rtlCol="0" anchor="ctr"/>
          <a:lstStyle/>
          <a:p>
            <a:pPr indent="0" marL="0">
              <a:buNone/>
            </a:pPr>
            <a:r>
              <a:rPr lang="en-US" sz="1200" b="1" dirty="0">
                <a:solidFill>
                  <a:srgbClr val="F2A541"/>
                </a:solidFill>
                <a:latin typeface="Calibri" pitchFamily="34" charset="0"/>
                <a:ea typeface="Calibri" pitchFamily="34" charset="-122"/>
                <a:cs typeface="Calibri" pitchFamily="34" charset="-120"/>
              </a:rPr>
              <a:t>Secondary metric</a:t>
            </a:r>
            <a:endParaRPr lang="en-US" sz="1200" dirty="0"/>
          </a:p>
        </p:txBody>
      </p:sp>
      <p:sp>
        <p:nvSpPr>
          <p:cNvPr id="26" name="Text 24"/>
          <p:cNvSpPr/>
          <p:nvPr/>
        </p:nvSpPr>
        <p:spPr>
          <a:xfrm>
            <a:off x="8412480" y="5029200"/>
            <a:ext cx="3017520" cy="411480"/>
          </a:xfrm>
          <a:prstGeom prst="rect">
            <a:avLst/>
          </a:prstGeom>
          <a:noFill/>
          <a:ln/>
        </p:spPr>
        <p:txBody>
          <a:bodyPr wrap="square" rtlCol="0" anchor="ctr"/>
          <a:lstStyle/>
          <a:p>
            <a:pPr indent="0" marL="0">
              <a:buNone/>
            </a:pPr>
            <a:r>
              <a:rPr lang="en-US" sz="1100" dirty="0">
                <a:solidFill>
                  <a:srgbClr val="E8EEF1"/>
                </a:solidFill>
                <a:latin typeface="Calibri" pitchFamily="34" charset="0"/>
                <a:ea typeface="Calibri" pitchFamily="34" charset="-122"/>
                <a:cs typeface="Calibri" pitchFamily="34" charset="-120"/>
              </a:rPr>
              <a:t>MAE, in currency units, for budgeting</a:t>
            </a:r>
            <a:endParaRPr lang="en-US" sz="1100" dirty="0"/>
          </a:p>
        </p:txBody>
      </p:sp>
      <p:sp>
        <p:nvSpPr>
          <p:cNvPr id="27" name="Text 25"/>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Validated on a genuine 6-week holdout</a:t>
            </a:r>
            <a:endParaRPr lang="en-US" sz="3000" dirty="0"/>
          </a:p>
        </p:txBody>
      </p:sp>
      <p:sp>
        <p:nvSpPr>
          <p:cNvPr id="4" name="Shape 2"/>
          <p:cNvSpPr/>
          <p:nvPr/>
        </p:nvSpPr>
        <p:spPr>
          <a:xfrm>
            <a:off x="548640" y="1645920"/>
            <a:ext cx="3520440" cy="1371600"/>
          </a:xfrm>
          <a:prstGeom prst="roundRect">
            <a:avLst>
              <a:gd name="adj" fmla="val 6000"/>
            </a:avLst>
          </a:prstGeom>
          <a:solidFill>
            <a:srgbClr val="FFFFFF"/>
          </a:solidFill>
          <a:ln w="12700">
            <a:solidFill>
              <a:srgbClr val="E1E8EC"/>
            </a:solidFill>
            <a:prstDash val="solid"/>
          </a:ln>
          <a:effectLst>
            <a:outerShdw sx="100000" sy="100000" kx="0" ky="0" algn="bl" rotWithShape="0" blurRad="76200" dist="25400" dir="5400000">
              <a:srgbClr val="1B1F23">
                <a:alpha val="10000"/>
              </a:srgbClr>
            </a:outerShdw>
          </a:effectLst>
        </p:spPr>
      </p:sp>
      <p:sp>
        <p:nvSpPr>
          <p:cNvPr id="5" name="Text 3"/>
          <p:cNvSpPr/>
          <p:nvPr/>
        </p:nvSpPr>
        <p:spPr>
          <a:xfrm>
            <a:off x="731520" y="1737360"/>
            <a:ext cx="315468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0.27</a:t>
            </a:r>
            <a:endParaRPr lang="en-US" sz="3000" dirty="0"/>
          </a:p>
        </p:txBody>
      </p:sp>
      <p:sp>
        <p:nvSpPr>
          <p:cNvPr id="6" name="Text 4"/>
          <p:cNvSpPr/>
          <p:nvPr/>
        </p:nvSpPr>
        <p:spPr>
          <a:xfrm>
            <a:off x="731520" y="2395728"/>
            <a:ext cx="3154680" cy="274320"/>
          </a:xfrm>
          <a:prstGeom prst="rect">
            <a:avLst/>
          </a:prstGeom>
          <a:noFill/>
          <a:ln/>
        </p:spPr>
        <p:txBody>
          <a:bodyPr wrap="square" rtlCol="0" anchor="ctr"/>
          <a:lstStyle/>
          <a:p>
            <a:pPr indent="0" marL="0">
              <a:buNone/>
            </a:pPr>
            <a:r>
              <a:rPr lang="en-US" sz="1250" b="1" dirty="0">
                <a:solidFill>
                  <a:srgbClr val="0B3D62"/>
                </a:solidFill>
                <a:latin typeface="Calibri" pitchFamily="34" charset="0"/>
                <a:ea typeface="Calibri" pitchFamily="34" charset="-122"/>
                <a:cs typeface="Calibri" pitchFamily="34" charset="-120"/>
              </a:rPr>
              <a:t>RMSPE</a:t>
            </a:r>
            <a:endParaRPr lang="en-US" sz="1250" dirty="0"/>
          </a:p>
        </p:txBody>
      </p:sp>
      <p:sp>
        <p:nvSpPr>
          <p:cNvPr id="7" name="Text 5"/>
          <p:cNvSpPr/>
          <p:nvPr/>
        </p:nvSpPr>
        <p:spPr>
          <a:xfrm>
            <a:off x="731520" y="2688336"/>
            <a:ext cx="3154680" cy="292608"/>
          </a:xfrm>
          <a:prstGeom prst="rect">
            <a:avLst/>
          </a:prstGeom>
          <a:noFill/>
          <a:ln/>
        </p:spPr>
        <p:txBody>
          <a:bodyPr wrap="square" rtlCol="0" anchor="ctr"/>
          <a:lstStyle/>
          <a:p>
            <a:pPr indent="0" marL="0">
              <a:buNone/>
            </a:pPr>
            <a:r>
              <a:rPr lang="en-US" sz="1000" dirty="0">
                <a:solidFill>
                  <a:srgbClr val="5B6770"/>
                </a:solidFill>
                <a:latin typeface="Calibri" pitchFamily="34" charset="0"/>
                <a:ea typeface="Calibri" pitchFamily="34" charset="-122"/>
                <a:cs typeface="Calibri" pitchFamily="34" charset="-120"/>
              </a:rPr>
              <a:t>typical % error on held-out weeks</a:t>
            </a:r>
            <a:endParaRPr lang="en-US" sz="1000" dirty="0"/>
          </a:p>
        </p:txBody>
      </p:sp>
      <p:sp>
        <p:nvSpPr>
          <p:cNvPr id="8" name="Shape 6"/>
          <p:cNvSpPr/>
          <p:nvPr/>
        </p:nvSpPr>
        <p:spPr>
          <a:xfrm>
            <a:off x="4325112" y="1645920"/>
            <a:ext cx="3520440" cy="1371600"/>
          </a:xfrm>
          <a:prstGeom prst="roundRect">
            <a:avLst>
              <a:gd name="adj" fmla="val 6000"/>
            </a:avLst>
          </a:prstGeom>
          <a:solidFill>
            <a:srgbClr val="FFFFFF"/>
          </a:solidFill>
          <a:ln w="12700">
            <a:solidFill>
              <a:srgbClr val="E1E8EC"/>
            </a:solidFill>
            <a:prstDash val="solid"/>
          </a:ln>
          <a:effectLst>
            <a:outerShdw sx="100000" sy="100000" kx="0" ky="0" algn="bl" rotWithShape="0" blurRad="76200" dist="25400" dir="5400000">
              <a:srgbClr val="1B1F23">
                <a:alpha val="10000"/>
              </a:srgbClr>
            </a:outerShdw>
          </a:effectLst>
        </p:spPr>
      </p:sp>
      <p:sp>
        <p:nvSpPr>
          <p:cNvPr id="9" name="Text 7"/>
          <p:cNvSpPr/>
          <p:nvPr/>
        </p:nvSpPr>
        <p:spPr>
          <a:xfrm>
            <a:off x="4507992" y="1737360"/>
            <a:ext cx="315468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 1,393</a:t>
            </a:r>
            <a:endParaRPr lang="en-US" sz="3000" dirty="0"/>
          </a:p>
        </p:txBody>
      </p:sp>
      <p:sp>
        <p:nvSpPr>
          <p:cNvPr id="10" name="Text 8"/>
          <p:cNvSpPr/>
          <p:nvPr/>
        </p:nvSpPr>
        <p:spPr>
          <a:xfrm>
            <a:off x="4507992" y="2395728"/>
            <a:ext cx="3154680" cy="274320"/>
          </a:xfrm>
          <a:prstGeom prst="rect">
            <a:avLst/>
          </a:prstGeom>
          <a:noFill/>
          <a:ln/>
        </p:spPr>
        <p:txBody>
          <a:bodyPr wrap="square" rtlCol="0" anchor="ctr"/>
          <a:lstStyle/>
          <a:p>
            <a:pPr indent="0" marL="0">
              <a:buNone/>
            </a:pPr>
            <a:r>
              <a:rPr lang="en-US" sz="1250" b="1" dirty="0">
                <a:solidFill>
                  <a:srgbClr val="0B3D62"/>
                </a:solidFill>
                <a:latin typeface="Calibri" pitchFamily="34" charset="0"/>
                <a:ea typeface="Calibri" pitchFamily="34" charset="-122"/>
                <a:cs typeface="Calibri" pitchFamily="34" charset="-120"/>
              </a:rPr>
              <a:t>MAE</a:t>
            </a:r>
            <a:endParaRPr lang="en-US" sz="1250" dirty="0"/>
          </a:p>
        </p:txBody>
      </p:sp>
      <p:sp>
        <p:nvSpPr>
          <p:cNvPr id="11" name="Text 9"/>
          <p:cNvSpPr/>
          <p:nvPr/>
        </p:nvSpPr>
        <p:spPr>
          <a:xfrm>
            <a:off x="4507992" y="2688336"/>
            <a:ext cx="3154680" cy="292608"/>
          </a:xfrm>
          <a:prstGeom prst="rect">
            <a:avLst/>
          </a:prstGeom>
          <a:noFill/>
          <a:ln/>
        </p:spPr>
        <p:txBody>
          <a:bodyPr wrap="square" rtlCol="0" anchor="ctr"/>
          <a:lstStyle/>
          <a:p>
            <a:pPr indent="0" marL="0">
              <a:buNone/>
            </a:pPr>
            <a:r>
              <a:rPr lang="en-US" sz="1000" dirty="0">
                <a:solidFill>
                  <a:srgbClr val="5B6770"/>
                </a:solidFill>
                <a:latin typeface="Calibri" pitchFamily="34" charset="0"/>
                <a:ea typeface="Calibri" pitchFamily="34" charset="-122"/>
                <a:cs typeface="Calibri" pitchFamily="34" charset="-120"/>
              </a:rPr>
              <a:t>currency units, avg. absolute error</a:t>
            </a:r>
            <a:endParaRPr lang="en-US" sz="1000" dirty="0"/>
          </a:p>
        </p:txBody>
      </p:sp>
      <p:sp>
        <p:nvSpPr>
          <p:cNvPr id="12" name="Shape 10"/>
          <p:cNvSpPr/>
          <p:nvPr/>
        </p:nvSpPr>
        <p:spPr>
          <a:xfrm>
            <a:off x="8101584" y="1645920"/>
            <a:ext cx="3520440" cy="1371600"/>
          </a:xfrm>
          <a:prstGeom prst="roundRect">
            <a:avLst>
              <a:gd name="adj" fmla="val 6000"/>
            </a:avLst>
          </a:prstGeom>
          <a:solidFill>
            <a:srgbClr val="FFFFFF"/>
          </a:solidFill>
          <a:ln w="12700">
            <a:solidFill>
              <a:srgbClr val="E1E8EC"/>
            </a:solidFill>
            <a:prstDash val="solid"/>
          </a:ln>
          <a:effectLst>
            <a:outerShdw sx="100000" sy="100000" kx="0" ky="0" algn="bl" rotWithShape="0" blurRad="76200" dist="25400" dir="5400000">
              <a:srgbClr val="1B1F23">
                <a:alpha val="10000"/>
              </a:srgbClr>
            </a:outerShdw>
          </a:effectLst>
        </p:spPr>
      </p:sp>
      <p:sp>
        <p:nvSpPr>
          <p:cNvPr id="13" name="Text 11"/>
          <p:cNvSpPr/>
          <p:nvPr/>
        </p:nvSpPr>
        <p:spPr>
          <a:xfrm>
            <a:off x="8284464" y="1737360"/>
            <a:ext cx="3154680" cy="640080"/>
          </a:xfrm>
          <a:prstGeom prst="rect">
            <a:avLst/>
          </a:prstGeom>
          <a:noFill/>
          <a:ln/>
        </p:spPr>
        <p:txBody>
          <a:bodyPr wrap="square"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200K</a:t>
            </a:r>
            <a:endParaRPr lang="en-US" sz="3000" dirty="0"/>
          </a:p>
        </p:txBody>
      </p:sp>
      <p:sp>
        <p:nvSpPr>
          <p:cNvPr id="14" name="Text 12"/>
          <p:cNvSpPr/>
          <p:nvPr/>
        </p:nvSpPr>
        <p:spPr>
          <a:xfrm>
            <a:off x="8284464" y="2395728"/>
            <a:ext cx="3154680" cy="274320"/>
          </a:xfrm>
          <a:prstGeom prst="rect">
            <a:avLst/>
          </a:prstGeom>
          <a:noFill/>
          <a:ln/>
        </p:spPr>
        <p:txBody>
          <a:bodyPr wrap="square" rtlCol="0" anchor="ctr"/>
          <a:lstStyle/>
          <a:p>
            <a:pPr indent="0" marL="0">
              <a:buNone/>
            </a:pPr>
            <a:r>
              <a:rPr lang="en-US" sz="1250" b="1" dirty="0">
                <a:solidFill>
                  <a:srgbClr val="0B3D62"/>
                </a:solidFill>
                <a:latin typeface="Calibri" pitchFamily="34" charset="0"/>
                <a:ea typeface="Calibri" pitchFamily="34" charset="-122"/>
                <a:cs typeface="Calibri" pitchFamily="34" charset="-120"/>
              </a:rPr>
              <a:t>training rows</a:t>
            </a:r>
            <a:endParaRPr lang="en-US" sz="1250" dirty="0"/>
          </a:p>
        </p:txBody>
      </p:sp>
      <p:sp>
        <p:nvSpPr>
          <p:cNvPr id="15" name="Text 13"/>
          <p:cNvSpPr/>
          <p:nvPr/>
        </p:nvSpPr>
        <p:spPr>
          <a:xfrm>
            <a:off x="8284464" y="2688336"/>
            <a:ext cx="3154680" cy="292608"/>
          </a:xfrm>
          <a:prstGeom prst="rect">
            <a:avLst/>
          </a:prstGeom>
          <a:noFill/>
          <a:ln/>
        </p:spPr>
        <p:txBody>
          <a:bodyPr wrap="square" rtlCol="0" anchor="ctr"/>
          <a:lstStyle/>
          <a:p>
            <a:pPr indent="0" marL="0">
              <a:buNone/>
            </a:pPr>
            <a:r>
              <a:rPr lang="en-US" sz="1000" dirty="0">
                <a:solidFill>
                  <a:srgbClr val="5B6770"/>
                </a:solidFill>
                <a:latin typeface="Calibri" pitchFamily="34" charset="0"/>
                <a:ea typeface="Calibri" pitchFamily="34" charset="-122"/>
                <a:cs typeface="Calibri" pitchFamily="34" charset="-120"/>
              </a:rPr>
              <a:t>sampled for this sandboxed run</a:t>
            </a:r>
            <a:endParaRPr lang="en-US" sz="1000" dirty="0"/>
          </a:p>
        </p:txBody>
      </p:sp>
      <p:pic>
        <p:nvPicPr>
          <p:cNvPr id="16" name="Image 0" descr="/home/claude/proj/figs/15_actual_vs_predicted.png">    </p:cNvPr>
          <p:cNvPicPr>
            <a:picLocks noChangeAspect="1"/>
          </p:cNvPicPr>
          <p:nvPr/>
        </p:nvPicPr>
        <p:blipFill>
          <a:blip r:embed="rId1"/>
          <a:stretch>
            <a:fillRect/>
          </a:stretch>
        </p:blipFill>
        <p:spPr>
          <a:xfrm>
            <a:off x="548640" y="3246120"/>
            <a:ext cx="7909560" cy="3520440"/>
          </a:xfrm>
          <a:prstGeom prst="rect">
            <a:avLst/>
          </a:prstGeom>
        </p:spPr>
      </p:pic>
      <p:sp>
        <p:nvSpPr>
          <p:cNvPr id="17" name="Text 14"/>
          <p:cNvSpPr/>
          <p:nvPr/>
        </p:nvSpPr>
        <p:spPr>
          <a:xfrm>
            <a:off x="8732520" y="3291840"/>
            <a:ext cx="2926080" cy="320040"/>
          </a:xfrm>
          <a:prstGeom prst="rect">
            <a:avLst/>
          </a:prstGeom>
          <a:noFill/>
          <a:ln/>
        </p:spPr>
        <p:txBody>
          <a:bodyPr wrap="square" rtlCol="0" anchor="ctr"/>
          <a:lstStyle/>
          <a:p>
            <a:pPr indent="0" marL="0">
              <a:buNone/>
            </a:pPr>
            <a:r>
              <a:rPr lang="en-US" sz="1350" b="1" dirty="0">
                <a:solidFill>
                  <a:srgbClr val="0B3D62"/>
                </a:solidFill>
                <a:latin typeface="Calibri" pitchFamily="34" charset="0"/>
                <a:ea typeface="Calibri" pitchFamily="34" charset="-122"/>
                <a:cs typeface="Calibri" pitchFamily="34" charset="-120"/>
              </a:rPr>
              <a:t>Reading the chart</a:t>
            </a:r>
            <a:endParaRPr lang="en-US" sz="1350" dirty="0"/>
          </a:p>
        </p:txBody>
      </p:sp>
      <p:sp>
        <p:nvSpPr>
          <p:cNvPr id="18" name="Text 15"/>
          <p:cNvSpPr/>
          <p:nvPr/>
        </p:nvSpPr>
        <p:spPr>
          <a:xfrm>
            <a:off x="8732520" y="3657600"/>
            <a:ext cx="2926080" cy="2011680"/>
          </a:xfrm>
          <a:prstGeom prst="rect">
            <a:avLst/>
          </a:prstGeom>
          <a:noFill/>
          <a:ln/>
        </p:spPr>
        <p:txBody>
          <a:bodyPr wrap="square" rtlCol="0" anchor="ctr"/>
          <a:lstStyle/>
          <a:p>
            <a:pPr indent="0" marL="0">
              <a:lnSpc>
                <a:spcPct val="130000"/>
              </a:lnSpc>
              <a:buNone/>
            </a:pPr>
            <a:r>
              <a:rPr lang="en-US" sz="1150" dirty="0">
                <a:solidFill>
                  <a:srgbClr val="1B1F23"/>
                </a:solidFill>
                <a:latin typeface="Calibri" pitchFamily="34" charset="0"/>
                <a:ea typeface="Calibri" pitchFamily="34" charset="-122"/>
                <a:cs typeface="Calibri" pitchFamily="34" charset="-120"/>
              </a:rPr>
              <a:t>The model tracks the level and week-to-week shape of aggregate sales well across the validation window, under-reacting only to the sharpest single-day spikes — the expected profile of an un-tuned baseline.</a:t>
            </a:r>
            <a:endParaRPr lang="en-US" sz="1150" dirty="0"/>
          </a:p>
        </p:txBody>
      </p:sp>
      <p:sp>
        <p:nvSpPr>
          <p:cNvPr id="19" name="Text 16"/>
          <p:cNvSpPr/>
          <p:nvPr/>
        </p:nvSpPr>
        <p:spPr>
          <a:xfrm>
            <a:off x="8732520" y="5669280"/>
            <a:ext cx="2926080" cy="1005840"/>
          </a:xfrm>
          <a:prstGeom prst="rect">
            <a:avLst/>
          </a:prstGeom>
          <a:noFill/>
          <a:ln/>
        </p:spPr>
        <p:txBody>
          <a:bodyPr wrap="square" rtlCol="0" anchor="ctr"/>
          <a:lstStyle/>
          <a:p>
            <a:pPr indent="0" marL="0">
              <a:lnSpc>
                <a:spcPct val="130000"/>
              </a:lnSpc>
              <a:buNone/>
            </a:pPr>
            <a:r>
              <a:rPr lang="en-US" sz="1100" i="1" dirty="0">
                <a:solidFill>
                  <a:srgbClr val="5B6770"/>
                </a:solidFill>
                <a:latin typeface="Calibri" pitchFamily="34" charset="0"/>
                <a:ea typeface="Calibri" pitchFamily="34" charset="-122"/>
                <a:cs typeface="Calibri" pitchFamily="34" charset="-120"/>
              </a:rPr>
              <a:t>A tuned gradient-boosted model trained on the full dataset is expected to roughly halve this error (see Future Scope).</a:t>
            </a:r>
            <a:endParaRPr lang="en-US" sz="1100" dirty="0"/>
          </a:p>
        </p:txBody>
      </p:sp>
      <p:sp>
        <p:nvSpPr>
          <p:cNvPr id="20"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TASK 2.4 — POST-PREDICTION ANALYSIS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What drives the forecast — and how sure are we?</a:t>
            </a:r>
            <a:endParaRPr lang="en-US" sz="3000" dirty="0"/>
          </a:p>
        </p:txBody>
      </p:sp>
      <p:pic>
        <p:nvPicPr>
          <p:cNvPr id="4" name="Image 0" descr="/home/claude/proj/figs/13_feature_importance.png">    </p:cNvPr>
          <p:cNvPicPr>
            <a:picLocks noChangeAspect="1"/>
          </p:cNvPicPr>
          <p:nvPr/>
        </p:nvPicPr>
        <p:blipFill>
          <a:blip r:embed="rId1"/>
          <a:stretch>
            <a:fillRect/>
          </a:stretch>
        </p:blipFill>
        <p:spPr>
          <a:xfrm>
            <a:off x="457200" y="1600200"/>
            <a:ext cx="5394960" cy="4023360"/>
          </a:xfrm>
          <a:prstGeom prst="rect">
            <a:avLst/>
          </a:prstGeom>
        </p:spPr>
      </p:pic>
      <p:sp>
        <p:nvSpPr>
          <p:cNvPr id="5" name="Text 2"/>
          <p:cNvSpPr/>
          <p:nvPr/>
        </p:nvSpPr>
        <p:spPr>
          <a:xfrm>
            <a:off x="6035040" y="1645920"/>
            <a:ext cx="557784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Top drivers</a:t>
            </a:r>
            <a:endParaRPr lang="en-US" sz="1500" dirty="0"/>
          </a:p>
        </p:txBody>
      </p:sp>
      <p:sp>
        <p:nvSpPr>
          <p:cNvPr id="6" name="Text 3"/>
          <p:cNvSpPr/>
          <p:nvPr/>
        </p:nvSpPr>
        <p:spPr>
          <a:xfrm>
            <a:off x="6035040" y="2057400"/>
            <a:ext cx="5577840" cy="1005840"/>
          </a:xfrm>
          <a:prstGeom prst="rect">
            <a:avLst/>
          </a:prstGeom>
          <a:noFill/>
          <a:ln/>
        </p:spPr>
        <p:txBody>
          <a:bodyPr wrap="square" rtlCol="0" anchor="ctr"/>
          <a:lstStyle/>
          <a:p>
            <a:pPr indent="0" marL="0">
              <a:lnSpc>
                <a:spcPct val="130000"/>
              </a:lnSpc>
              <a:buNone/>
            </a:pPr>
            <a:r>
              <a:rPr lang="en-US" sz="1250" dirty="0">
                <a:solidFill>
                  <a:srgbClr val="1B1F23"/>
                </a:solidFill>
                <a:latin typeface="Calibri" pitchFamily="34" charset="0"/>
                <a:ea typeface="Calibri" pitchFamily="34" charset="-122"/>
                <a:cs typeface="Calibri" pitchFamily="34" charset="-120"/>
              </a:rPr>
              <a:t>Promo, CompetitionDistance and the store's own identity (Store / StoreType) dominate — behaviour and store-specific baseline demand matter more than any single calendar signal.</a:t>
            </a:r>
            <a:endParaRPr lang="en-US" sz="1250" dirty="0"/>
          </a:p>
        </p:txBody>
      </p:sp>
      <p:sp>
        <p:nvSpPr>
          <p:cNvPr id="7" name="Text 4"/>
          <p:cNvSpPr/>
          <p:nvPr/>
        </p:nvSpPr>
        <p:spPr>
          <a:xfrm>
            <a:off x="6035040" y="3200400"/>
            <a:ext cx="5577840" cy="365760"/>
          </a:xfrm>
          <a:prstGeom prst="rect">
            <a:avLst/>
          </a:prstGeom>
          <a:noFill/>
          <a:ln/>
        </p:spPr>
        <p:txBody>
          <a:bodyPr wrap="square" rtlCol="0" anchor="ctr"/>
          <a:lstStyle/>
          <a:p>
            <a:pPr indent="0" marL="0">
              <a:buNone/>
            </a:pPr>
            <a:r>
              <a:rPr lang="en-US" sz="1500" b="1" dirty="0">
                <a:solidFill>
                  <a:srgbClr val="0B3D62"/>
                </a:solidFill>
                <a:latin typeface="Calibri" pitchFamily="34" charset="0"/>
                <a:ea typeface="Calibri" pitchFamily="34" charset="-122"/>
                <a:cs typeface="Calibri" pitchFamily="34" charset="-120"/>
              </a:rPr>
              <a:t>Confidence intervals</a:t>
            </a:r>
            <a:endParaRPr lang="en-US" sz="1500" dirty="0"/>
          </a:p>
        </p:txBody>
      </p:sp>
      <p:sp>
        <p:nvSpPr>
          <p:cNvPr id="8" name="Text 5"/>
          <p:cNvSpPr/>
          <p:nvPr/>
        </p:nvSpPr>
        <p:spPr>
          <a:xfrm>
            <a:off x="6035040" y="3611880"/>
            <a:ext cx="5577840" cy="1371600"/>
          </a:xfrm>
          <a:prstGeom prst="rect">
            <a:avLst/>
          </a:prstGeom>
          <a:noFill/>
          <a:ln/>
        </p:spPr>
        <p:txBody>
          <a:bodyPr wrap="square" rtlCol="0" anchor="ctr"/>
          <a:lstStyle/>
          <a:p>
            <a:pPr indent="0" marL="0">
              <a:lnSpc>
                <a:spcPct val="130000"/>
              </a:lnSpc>
              <a:buNone/>
            </a:pPr>
            <a:r>
              <a:rPr lang="en-US" sz="1250" dirty="0">
                <a:solidFill>
                  <a:srgbClr val="1B1F23"/>
                </a:solidFill>
                <a:latin typeface="Calibri" pitchFamily="34" charset="0"/>
                <a:ea typeface="Calibri" pitchFamily="34" charset="-122"/>
                <a:cs typeface="Calibri" pitchFamily="34" charset="-120"/>
              </a:rPr>
              <a:t>Per-tree prediction spread gives a lightweight 90% interval. Honest result: empirical coverage is only ~46% — the naive tree-spread estimate runs too narrow, a known limitation of bagged-tree variance as an uncertainty proxy.</a:t>
            </a:r>
            <a:endParaRPr lang="en-US" sz="1250" dirty="0"/>
          </a:p>
        </p:txBody>
      </p:sp>
      <p:sp>
        <p:nvSpPr>
          <p:cNvPr id="9" name="Shape 6"/>
          <p:cNvSpPr/>
          <p:nvPr/>
        </p:nvSpPr>
        <p:spPr>
          <a:xfrm>
            <a:off x="6035040" y="5074920"/>
            <a:ext cx="5577840" cy="1051560"/>
          </a:xfrm>
          <a:prstGeom prst="roundRect">
            <a:avLst>
              <a:gd name="adj" fmla="val 7826"/>
            </a:avLst>
          </a:prstGeom>
          <a:solidFill>
            <a:srgbClr val="0B3D62"/>
          </a:solidFill>
          <a:ln/>
        </p:spPr>
      </p:sp>
      <p:sp>
        <p:nvSpPr>
          <p:cNvPr id="10" name="Text 7"/>
          <p:cNvSpPr/>
          <p:nvPr/>
        </p:nvSpPr>
        <p:spPr>
          <a:xfrm>
            <a:off x="6263640" y="5074920"/>
            <a:ext cx="5120640" cy="1051560"/>
          </a:xfrm>
          <a:prstGeom prst="rect">
            <a:avLst/>
          </a:prstGeom>
          <a:noFill/>
          <a:ln/>
        </p:spPr>
        <p:txBody>
          <a:bodyPr wrap="square" rtlCol="0" anchor="ctr"/>
          <a:lstStyle/>
          <a:p>
            <a:pPr indent="0" marL="0">
              <a:lnSpc>
                <a:spcPct val="125000"/>
              </a:lnSpc>
              <a:buNone/>
            </a:pPr>
            <a:r>
              <a:rPr lang="en-US" sz="1200" b="1" dirty="0">
                <a:solidFill>
                  <a:srgbClr val="F2A541"/>
                </a:solidFill>
                <a:latin typeface="Calibri" pitchFamily="34" charset="0"/>
                <a:ea typeface="Calibri" pitchFamily="34" charset="-122"/>
                <a:cs typeface="Calibri" pitchFamily="34" charset="-120"/>
              </a:rPr>
              <a:t>Next step:  </a:t>
            </a:r>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calibrate real intervals with a quantile regression forest or conformal prediction on the same holdout.</a:t>
            </a:r>
            <a:endParaRPr lang="en-US" sz="1200" dirty="0"/>
          </a:p>
        </p:txBody>
      </p:sp>
      <p:sp>
        <p:nvSpPr>
          <p:cNvPr id="11" name="Text 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TASK 2.5 – 2.7 — DEEP LEARNING, SERIALIZATION &amp; MLOPS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Beyond the baseline: LSTM, versioning, and MLflow</a:t>
            </a:r>
            <a:endParaRPr lang="en-US" sz="3000" dirty="0"/>
          </a:p>
        </p:txBody>
      </p:sp>
      <p:sp>
        <p:nvSpPr>
          <p:cNvPr id="4" name="Shape 2"/>
          <p:cNvSpPr/>
          <p:nvPr/>
        </p:nvSpPr>
        <p:spPr>
          <a:xfrm>
            <a:off x="548640" y="1691640"/>
            <a:ext cx="3520440" cy="4206240"/>
          </a:xfrm>
          <a:prstGeom prst="roundRect">
            <a:avLst>
              <a:gd name="adj" fmla="val 2597"/>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5" name="Shape 3"/>
          <p:cNvSpPr/>
          <p:nvPr/>
        </p:nvSpPr>
        <p:spPr>
          <a:xfrm>
            <a:off x="548640" y="1691640"/>
            <a:ext cx="3520440" cy="777240"/>
          </a:xfrm>
          <a:prstGeom prst="roundRect">
            <a:avLst>
              <a:gd name="adj" fmla="val 11765"/>
            </a:avLst>
          </a:prstGeom>
          <a:solidFill>
            <a:srgbClr val="1C7293"/>
          </a:solidFill>
          <a:ln/>
        </p:spPr>
      </p:sp>
      <p:sp>
        <p:nvSpPr>
          <p:cNvPr id="6" name="Shape 4"/>
          <p:cNvSpPr/>
          <p:nvPr/>
        </p:nvSpPr>
        <p:spPr>
          <a:xfrm>
            <a:off x="548640" y="2194560"/>
            <a:ext cx="3520440" cy="274320"/>
          </a:xfrm>
          <a:prstGeom prst="rect">
            <a:avLst/>
          </a:prstGeom>
          <a:solidFill>
            <a:srgbClr val="1C7293"/>
          </a:solidFill>
          <a:ln/>
        </p:spPr>
      </p:sp>
      <p:sp>
        <p:nvSpPr>
          <p:cNvPr id="7" name="Text 5"/>
          <p:cNvSpPr/>
          <p:nvPr/>
        </p:nvSpPr>
        <p:spPr>
          <a:xfrm>
            <a:off x="777240" y="1691640"/>
            <a:ext cx="3063240" cy="7772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Model versioning</a:t>
            </a:r>
            <a:endParaRPr lang="en-US" sz="1500" dirty="0"/>
          </a:p>
        </p:txBody>
      </p:sp>
      <p:sp>
        <p:nvSpPr>
          <p:cNvPr id="8" name="Text 6"/>
          <p:cNvSpPr/>
          <p:nvPr/>
        </p:nvSpPr>
        <p:spPr>
          <a:xfrm>
            <a:off x="804672" y="2651760"/>
            <a:ext cx="3008376" cy="3017520"/>
          </a:xfrm>
          <a:prstGeom prst="rect">
            <a:avLst/>
          </a:prstGeom>
          <a:noFill/>
          <a:ln/>
        </p:spPr>
        <p:txBody>
          <a:bodyPr wrap="square" rtlCol="0" anchor="ctr"/>
          <a:lstStyle/>
          <a:p>
            <a:pPr marL="152400" indent="-152400">
              <a:lnSpc>
                <a:spcPct val="125000"/>
              </a:lnSpc>
              <a:spcAft>
                <a:spcPts val="1000"/>
              </a:spcAft>
              <a:buSzPct val="100000"/>
              <a:buChar char="•"/>
            </a:pPr>
            <a:r>
              <a:rPr lang="en-US" sz="1150" dirty="0">
                <a:solidFill>
                  <a:srgbClr val="1B1F23"/>
                </a:solidFill>
                <a:latin typeface="Calibri" pitchFamily="34" charset="0"/>
                <a:ea typeface="Calibri" pitchFamily="34" charset="-122"/>
                <a:cs typeface="Calibri" pitchFamily="34" charset="-120"/>
              </a:rPr>
              <a:t>Every model saved as rf_model_DD-MM-YYYY-HH-MM-SS-00.pkl</a:t>
            </a:r>
            <a:endParaRPr lang="en-US" sz="1150" dirty="0"/>
          </a:p>
          <a:p>
            <a:pPr marL="152400" indent="-152400">
              <a:lnSpc>
                <a:spcPct val="125000"/>
              </a:lnSpc>
              <a:spcAft>
                <a:spcPts val="1000"/>
              </a:spcAft>
              <a:buSzPct val="100000"/>
              <a:buChar char="•"/>
            </a:pPr>
            <a:r>
              <a:rPr lang="en-US" sz="1150" dirty="0">
                <a:solidFill>
                  <a:srgbClr val="1B1F23"/>
                </a:solidFill>
                <a:latin typeface="Calibri" pitchFamily="34" charset="0"/>
                <a:ea typeface="Calibri" pitchFamily="34" charset="-122"/>
                <a:cs typeface="Calibri" pitchFamily="34" charset="-120"/>
              </a:rPr>
              <a:t>Enables daily retraining without losing track of which model served which prediction</a:t>
            </a:r>
            <a:endParaRPr lang="en-US" sz="1150" dirty="0"/>
          </a:p>
        </p:txBody>
      </p:sp>
      <p:sp>
        <p:nvSpPr>
          <p:cNvPr id="9" name="Shape 7"/>
          <p:cNvSpPr/>
          <p:nvPr/>
        </p:nvSpPr>
        <p:spPr>
          <a:xfrm>
            <a:off x="4325112" y="1691640"/>
            <a:ext cx="3520440" cy="4206240"/>
          </a:xfrm>
          <a:prstGeom prst="roundRect">
            <a:avLst>
              <a:gd name="adj" fmla="val 2597"/>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10" name="Shape 8"/>
          <p:cNvSpPr/>
          <p:nvPr/>
        </p:nvSpPr>
        <p:spPr>
          <a:xfrm>
            <a:off x="4325112" y="1691640"/>
            <a:ext cx="3520440" cy="777240"/>
          </a:xfrm>
          <a:prstGeom prst="roundRect">
            <a:avLst>
              <a:gd name="adj" fmla="val 11765"/>
            </a:avLst>
          </a:prstGeom>
          <a:solidFill>
            <a:srgbClr val="F2A541"/>
          </a:solidFill>
          <a:ln/>
        </p:spPr>
      </p:sp>
      <p:sp>
        <p:nvSpPr>
          <p:cNvPr id="11" name="Shape 9"/>
          <p:cNvSpPr/>
          <p:nvPr/>
        </p:nvSpPr>
        <p:spPr>
          <a:xfrm>
            <a:off x="4325112" y="2194560"/>
            <a:ext cx="3520440" cy="274320"/>
          </a:xfrm>
          <a:prstGeom prst="rect">
            <a:avLst/>
          </a:prstGeom>
          <a:solidFill>
            <a:srgbClr val="F2A541"/>
          </a:solidFill>
          <a:ln/>
        </p:spPr>
      </p:sp>
      <p:sp>
        <p:nvSpPr>
          <p:cNvPr id="12" name="Text 10"/>
          <p:cNvSpPr/>
          <p:nvPr/>
        </p:nvSpPr>
        <p:spPr>
          <a:xfrm>
            <a:off x="4553712" y="1691640"/>
            <a:ext cx="3063240" cy="777240"/>
          </a:xfrm>
          <a:prstGeom prst="rect">
            <a:avLst/>
          </a:prstGeom>
          <a:noFill/>
          <a:ln/>
        </p:spPr>
        <p:txBody>
          <a:bodyPr wrap="square" rtlCol="0" anchor="ctr"/>
          <a:lstStyle/>
          <a:p>
            <a:pPr indent="0" marL="0">
              <a:buNone/>
            </a:pPr>
            <a:r>
              <a:rPr lang="en-US" sz="1500" b="1" dirty="0">
                <a:solidFill>
                  <a:srgbClr val="07263F"/>
                </a:solidFill>
                <a:latin typeface="Calibri" pitchFamily="34" charset="0"/>
                <a:ea typeface="Calibri" pitchFamily="34" charset="-122"/>
                <a:cs typeface="Calibri" pitchFamily="34" charset="-120"/>
              </a:rPr>
              <a:t>LSTM (deep learning)</a:t>
            </a:r>
            <a:endParaRPr lang="en-US" sz="1500" dirty="0"/>
          </a:p>
        </p:txBody>
      </p:sp>
      <p:sp>
        <p:nvSpPr>
          <p:cNvPr id="13" name="Text 11"/>
          <p:cNvSpPr/>
          <p:nvPr/>
        </p:nvSpPr>
        <p:spPr>
          <a:xfrm>
            <a:off x="4581144" y="2651760"/>
            <a:ext cx="3008376" cy="3017520"/>
          </a:xfrm>
          <a:prstGeom prst="rect">
            <a:avLst/>
          </a:prstGeom>
          <a:noFill/>
          <a:ln/>
        </p:spPr>
        <p:txBody>
          <a:bodyPr wrap="square" rtlCol="0" anchor="ctr"/>
          <a:lstStyle/>
          <a:p>
            <a:pPr marL="152400" indent="-152400">
              <a:lnSpc>
                <a:spcPct val="125000"/>
              </a:lnSpc>
              <a:spcAft>
                <a:spcPts val="1000"/>
              </a:spcAft>
              <a:buSzPct val="100000"/>
              <a:buChar char="•"/>
            </a:pPr>
            <a:r>
              <a:rPr lang="en-US" sz="1150" dirty="0">
                <a:solidFill>
                  <a:srgbClr val="1B1F23"/>
                </a:solidFill>
                <a:latin typeface="Calibri" pitchFamily="34" charset="0"/>
                <a:ea typeface="Calibri" pitchFamily="34" charset="-122"/>
                <a:cs typeface="Calibri" pitchFamily="34" charset="-120"/>
              </a:rPr>
              <a:t>2-layer LSTM (TensorFlow), sized to run comfortably on Colab</a:t>
            </a:r>
            <a:endParaRPr lang="en-US" sz="1150" dirty="0"/>
          </a:p>
          <a:p>
            <a:pPr marL="152400" indent="-152400">
              <a:lnSpc>
                <a:spcPct val="125000"/>
              </a:lnSpc>
              <a:spcAft>
                <a:spcPts val="1000"/>
              </a:spcAft>
              <a:buSzPct val="100000"/>
              <a:buChar char="•"/>
            </a:pPr>
            <a:r>
              <a:rPr lang="en-US" sz="1150" dirty="0">
                <a:solidFill>
                  <a:srgbClr val="1B1F23"/>
                </a:solidFill>
                <a:latin typeface="Calibri" pitchFamily="34" charset="0"/>
                <a:ea typeface="Calibri" pitchFamily="34" charset="-122"/>
                <a:cs typeface="Calibri" pitchFamily="34" charset="-120"/>
              </a:rPr>
              <a:t>Pipeline: stationarity check (ADF) → differencing → ACF/PACF → sliding-window supervised framing → (-1,1) scaling</a:t>
            </a:r>
            <a:endParaRPr lang="en-US" sz="1150" dirty="0"/>
          </a:p>
        </p:txBody>
      </p:sp>
      <p:sp>
        <p:nvSpPr>
          <p:cNvPr id="14" name="Shape 12"/>
          <p:cNvSpPr/>
          <p:nvPr/>
        </p:nvSpPr>
        <p:spPr>
          <a:xfrm>
            <a:off x="8101584" y="1691640"/>
            <a:ext cx="3520440" cy="4206240"/>
          </a:xfrm>
          <a:prstGeom prst="roundRect">
            <a:avLst>
              <a:gd name="adj" fmla="val 2597"/>
            </a:avLst>
          </a:prstGeom>
          <a:solidFill>
            <a:srgbClr val="FFFFFF"/>
          </a:solidFill>
          <a:ln w="12700">
            <a:solidFill>
              <a:srgbClr val="E1E8EC"/>
            </a:solidFill>
            <a:prstDash val="solid"/>
          </a:ln>
          <a:effectLst>
            <a:outerShdw sx="100000" sy="100000" kx="0" ky="0" algn="bl" rotWithShape="0" blurRad="101600" dist="38100" dir="5400000">
              <a:srgbClr val="1B1F23">
                <a:alpha val="12000"/>
              </a:srgbClr>
            </a:outerShdw>
          </a:effectLst>
        </p:spPr>
      </p:sp>
      <p:sp>
        <p:nvSpPr>
          <p:cNvPr id="15" name="Shape 13"/>
          <p:cNvSpPr/>
          <p:nvPr/>
        </p:nvSpPr>
        <p:spPr>
          <a:xfrm>
            <a:off x="8101584" y="1691640"/>
            <a:ext cx="3520440" cy="777240"/>
          </a:xfrm>
          <a:prstGeom prst="roundRect">
            <a:avLst>
              <a:gd name="adj" fmla="val 11765"/>
            </a:avLst>
          </a:prstGeom>
          <a:solidFill>
            <a:srgbClr val="1C7293"/>
          </a:solidFill>
          <a:ln/>
        </p:spPr>
      </p:sp>
      <p:sp>
        <p:nvSpPr>
          <p:cNvPr id="16" name="Shape 14"/>
          <p:cNvSpPr/>
          <p:nvPr/>
        </p:nvSpPr>
        <p:spPr>
          <a:xfrm>
            <a:off x="8101584" y="2194560"/>
            <a:ext cx="3520440" cy="274320"/>
          </a:xfrm>
          <a:prstGeom prst="rect">
            <a:avLst/>
          </a:prstGeom>
          <a:solidFill>
            <a:srgbClr val="1C7293"/>
          </a:solidFill>
          <a:ln/>
        </p:spPr>
      </p:sp>
      <p:sp>
        <p:nvSpPr>
          <p:cNvPr id="17" name="Text 15"/>
          <p:cNvSpPr/>
          <p:nvPr/>
        </p:nvSpPr>
        <p:spPr>
          <a:xfrm>
            <a:off x="8330184" y="1691640"/>
            <a:ext cx="3063240" cy="7772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MLflow serving</a:t>
            </a:r>
            <a:endParaRPr lang="en-US" sz="1500" dirty="0"/>
          </a:p>
        </p:txBody>
      </p:sp>
      <p:sp>
        <p:nvSpPr>
          <p:cNvPr id="18" name="Text 16"/>
          <p:cNvSpPr/>
          <p:nvPr/>
        </p:nvSpPr>
        <p:spPr>
          <a:xfrm>
            <a:off x="8357616" y="2651760"/>
            <a:ext cx="3008376" cy="3017520"/>
          </a:xfrm>
          <a:prstGeom prst="rect">
            <a:avLst/>
          </a:prstGeom>
          <a:noFill/>
          <a:ln/>
        </p:spPr>
        <p:txBody>
          <a:bodyPr wrap="square" rtlCol="0" anchor="ctr"/>
          <a:lstStyle/>
          <a:p>
            <a:pPr marL="152400" indent="-152400">
              <a:lnSpc>
                <a:spcPct val="125000"/>
              </a:lnSpc>
              <a:spcAft>
                <a:spcPts val="1000"/>
              </a:spcAft>
              <a:buSzPct val="100000"/>
              <a:buChar char="•"/>
            </a:pPr>
            <a:r>
              <a:rPr lang="en-US" sz="1150" dirty="0">
                <a:solidFill>
                  <a:srgbClr val="1B1F23"/>
                </a:solidFill>
                <a:latin typeface="Calibri" pitchFamily="34" charset="0"/>
                <a:ea typeface="Calibri" pitchFamily="34" charset="-122"/>
                <a:cs typeface="Calibri" pitchFamily="34" charset="-120"/>
              </a:rPr>
              <a:t>Logs params, metrics (RMSPE, MAE) and the model artifact per run</a:t>
            </a:r>
            <a:endParaRPr lang="en-US" sz="1150" dirty="0"/>
          </a:p>
          <a:p>
            <a:pPr marL="152400" indent="-152400">
              <a:lnSpc>
                <a:spcPct val="125000"/>
              </a:lnSpc>
              <a:spcAft>
                <a:spcPts val="1000"/>
              </a:spcAft>
              <a:buSzPct val="100000"/>
              <a:buChar char="•"/>
            </a:pPr>
            <a:r>
              <a:rPr lang="en-US" sz="1150" dirty="0">
                <a:solidFill>
                  <a:srgbClr val="1B1F23"/>
                </a:solidFill>
                <a:latin typeface="Calibri" pitchFamily="34" charset="0"/>
                <a:ea typeface="Calibri" pitchFamily="34" charset="-122"/>
                <a:cs typeface="Calibri" pitchFamily="34" charset="-120"/>
              </a:rPr>
              <a:t>Registered model served via mlflow.pyfunc or a REST endpoint (mlflow models serve)</a:t>
            </a:r>
            <a:endParaRPr lang="en-US" sz="1150" dirty="0"/>
          </a:p>
        </p:txBody>
      </p:sp>
      <p:sp>
        <p:nvSpPr>
          <p:cNvPr id="19" name="Text 1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TASK 3 — SERVING PREDICTIONS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indent="0" marL="0">
              <a:buNone/>
            </a:pPr>
            <a:r>
              <a:rPr lang="en-US" sz="3000" b="1" dirty="0">
                <a:solidFill>
                  <a:srgbClr val="0B3D62"/>
                </a:solidFill>
                <a:latin typeface="Cambria" pitchFamily="34" charset="0"/>
                <a:ea typeface="Cambria" pitchFamily="34" charset="-122"/>
                <a:cs typeface="Cambria" pitchFamily="34" charset="-120"/>
              </a:rPr>
              <a:t>A dashboard analysts can actually use</a:t>
            </a:r>
            <a:endParaRPr lang="en-US" sz="3000" dirty="0"/>
          </a:p>
        </p:txBody>
      </p:sp>
      <p:sp>
        <p:nvSpPr>
          <p:cNvPr id="4" name="Shape 2"/>
          <p:cNvSpPr/>
          <p:nvPr/>
        </p:nvSpPr>
        <p:spPr>
          <a:xfrm>
            <a:off x="548640" y="1737360"/>
            <a:ext cx="2388870" cy="1005840"/>
          </a:xfrm>
          <a:prstGeom prst="roundRect">
            <a:avLst>
              <a:gd name="adj" fmla="val 8182"/>
            </a:avLst>
          </a:prstGeom>
          <a:solidFill>
            <a:srgbClr val="1C7293"/>
          </a:solidFill>
          <a:ln/>
        </p:spPr>
      </p:sp>
      <p:sp>
        <p:nvSpPr>
          <p:cNvPr id="5" name="Text 3"/>
          <p:cNvSpPr/>
          <p:nvPr/>
        </p:nvSpPr>
        <p:spPr>
          <a:xfrm>
            <a:off x="548640" y="1737360"/>
            <a:ext cx="2388870" cy="10058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Manager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input / CSV</a:t>
            </a:r>
            <a:endParaRPr lang="en-US" sz="1250" dirty="0"/>
          </a:p>
        </p:txBody>
      </p:sp>
      <p:sp>
        <p:nvSpPr>
          <p:cNvPr id="6" name="Text 4"/>
          <p:cNvSpPr/>
          <p:nvPr/>
        </p:nvSpPr>
        <p:spPr>
          <a:xfrm>
            <a:off x="2937510" y="1737360"/>
            <a:ext cx="502920" cy="1005840"/>
          </a:xfrm>
          <a:prstGeom prst="rect">
            <a:avLst/>
          </a:prstGeom>
          <a:noFill/>
          <a:ln/>
        </p:spPr>
        <p:txBody>
          <a:bodyPr wrap="square" rtlCol="0" anchor="ctr"/>
          <a:lstStyle/>
          <a:p>
            <a:pPr algn="ctr" indent="0" marL="0">
              <a:buNone/>
            </a:pPr>
            <a:r>
              <a:rPr lang="en-US" sz="1800" dirty="0">
                <a:solidFill>
                  <a:srgbClr val="5B6770"/>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3440430" y="1737360"/>
            <a:ext cx="2388870" cy="1005840"/>
          </a:xfrm>
          <a:prstGeom prst="roundRect">
            <a:avLst>
              <a:gd name="adj" fmla="val 8182"/>
            </a:avLst>
          </a:prstGeom>
          <a:solidFill>
            <a:srgbClr val="F2A541"/>
          </a:solidFill>
          <a:ln/>
        </p:spPr>
      </p:sp>
      <p:sp>
        <p:nvSpPr>
          <p:cNvPr id="8" name="Text 6"/>
          <p:cNvSpPr/>
          <p:nvPr/>
        </p:nvSpPr>
        <p:spPr>
          <a:xfrm>
            <a:off x="3440430" y="1737360"/>
            <a:ext cx="2388870" cy="1005840"/>
          </a:xfrm>
          <a:prstGeom prst="rect">
            <a:avLst/>
          </a:prstGeom>
          <a:noFill/>
          <a:ln/>
        </p:spPr>
        <p:txBody>
          <a:bodyPr wrap="square" rtlCol="0" anchor="ctr"/>
          <a:lstStyle/>
          <a:p>
            <a:pPr algn="ctr" indent="0" marL="0">
              <a:buNone/>
            </a:pPr>
            <a:r>
              <a:rPr lang="en-US" sz="1250" b="1" dirty="0">
                <a:solidFill>
                  <a:srgbClr val="07263F"/>
                </a:solidFill>
                <a:latin typeface="Calibri" pitchFamily="34" charset="0"/>
                <a:ea typeface="Calibri" pitchFamily="34" charset="-122"/>
                <a:cs typeface="Calibri" pitchFamily="34" charset="-120"/>
              </a:rPr>
              <a:t>Flask API</a:t>
            </a:r>
            <a:endParaRPr lang="en-US" sz="1250" dirty="0"/>
          </a:p>
          <a:p>
            <a:pPr algn="ctr" indent="0" marL="0">
              <a:buNone/>
            </a:pPr>
            <a:r>
              <a:rPr lang="en-US" sz="1250" b="1" dirty="0">
                <a:solidFill>
                  <a:srgbClr val="07263F"/>
                </a:solidFill>
                <a:latin typeface="Calibri" pitchFamily="34" charset="0"/>
                <a:ea typeface="Calibri" pitchFamily="34" charset="-122"/>
                <a:cs typeface="Calibri" pitchFamily="34" charset="-120"/>
              </a:rPr>
              <a:t>(/predict)</a:t>
            </a:r>
            <a:endParaRPr lang="en-US" sz="1250" dirty="0"/>
          </a:p>
        </p:txBody>
      </p:sp>
      <p:sp>
        <p:nvSpPr>
          <p:cNvPr id="9" name="Text 7"/>
          <p:cNvSpPr/>
          <p:nvPr/>
        </p:nvSpPr>
        <p:spPr>
          <a:xfrm>
            <a:off x="5829300" y="1737360"/>
            <a:ext cx="502920" cy="1005840"/>
          </a:xfrm>
          <a:prstGeom prst="rect">
            <a:avLst/>
          </a:prstGeom>
          <a:noFill/>
          <a:ln/>
        </p:spPr>
        <p:txBody>
          <a:bodyPr wrap="square" rtlCol="0" anchor="ctr"/>
          <a:lstStyle/>
          <a:p>
            <a:pPr algn="ctr" indent="0" marL="0">
              <a:buNone/>
            </a:pPr>
            <a:r>
              <a:rPr lang="en-US" sz="1800" dirty="0">
                <a:solidFill>
                  <a:srgbClr val="5B6770"/>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6332220" y="1737360"/>
            <a:ext cx="2388870" cy="1005840"/>
          </a:xfrm>
          <a:prstGeom prst="roundRect">
            <a:avLst>
              <a:gd name="adj" fmla="val 8182"/>
            </a:avLst>
          </a:prstGeom>
          <a:solidFill>
            <a:srgbClr val="1C7293"/>
          </a:solidFill>
          <a:ln/>
        </p:spPr>
      </p:sp>
      <p:sp>
        <p:nvSpPr>
          <p:cNvPr id="11" name="Text 9"/>
          <p:cNvSpPr/>
          <p:nvPr/>
        </p:nvSpPr>
        <p:spPr>
          <a:xfrm>
            <a:off x="6332220" y="1737360"/>
            <a:ext cx="2388870" cy="10058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Serialized</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model (.pkl)</a:t>
            </a:r>
            <a:endParaRPr lang="en-US" sz="1250" dirty="0"/>
          </a:p>
        </p:txBody>
      </p:sp>
      <p:sp>
        <p:nvSpPr>
          <p:cNvPr id="12" name="Text 10"/>
          <p:cNvSpPr/>
          <p:nvPr/>
        </p:nvSpPr>
        <p:spPr>
          <a:xfrm>
            <a:off x="8721090" y="1737360"/>
            <a:ext cx="502920" cy="1005840"/>
          </a:xfrm>
          <a:prstGeom prst="rect">
            <a:avLst/>
          </a:prstGeom>
          <a:noFill/>
          <a:ln/>
        </p:spPr>
        <p:txBody>
          <a:bodyPr wrap="square" rtlCol="0" anchor="ctr"/>
          <a:lstStyle/>
          <a:p>
            <a:pPr algn="ctr" indent="0" marL="0">
              <a:buNone/>
            </a:pPr>
            <a:r>
              <a:rPr lang="en-US" sz="1800" dirty="0">
                <a:solidFill>
                  <a:srgbClr val="5B6770"/>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9224010" y="1737360"/>
            <a:ext cx="2388870" cy="1005840"/>
          </a:xfrm>
          <a:prstGeom prst="roundRect">
            <a:avLst>
              <a:gd name="adj" fmla="val 8182"/>
            </a:avLst>
          </a:prstGeom>
          <a:solidFill>
            <a:srgbClr val="1C7293"/>
          </a:solidFill>
          <a:ln/>
        </p:spPr>
      </p:sp>
      <p:sp>
        <p:nvSpPr>
          <p:cNvPr id="14" name="Text 12"/>
          <p:cNvSpPr/>
          <p:nvPr/>
        </p:nvSpPr>
        <p:spPr>
          <a:xfrm>
            <a:off x="9224010" y="1737360"/>
            <a:ext cx="2388870" cy="10058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Chart +</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CSV download</a:t>
            </a:r>
            <a:endParaRPr lang="en-US" sz="1250" dirty="0"/>
          </a:p>
        </p:txBody>
      </p:sp>
      <p:sp>
        <p:nvSpPr>
          <p:cNvPr id="15" name="Text 13"/>
          <p:cNvSpPr/>
          <p:nvPr/>
        </p:nvSpPr>
        <p:spPr>
          <a:xfrm>
            <a:off x="548640" y="3108960"/>
            <a:ext cx="5303520" cy="365760"/>
          </a:xfrm>
          <a:prstGeom prst="rect">
            <a:avLst/>
          </a:prstGeom>
          <a:noFill/>
          <a:ln/>
        </p:spPr>
        <p:txBody>
          <a:bodyPr wrap="square" rtlCol="0" anchor="ctr"/>
          <a:lstStyle/>
          <a:p>
            <a:pPr indent="0" marL="0">
              <a:buNone/>
            </a:pPr>
            <a:r>
              <a:rPr lang="en-US" sz="1450" b="1" dirty="0">
                <a:solidFill>
                  <a:srgbClr val="0B3D62"/>
                </a:solidFill>
                <a:latin typeface="Calibri" pitchFamily="34" charset="0"/>
                <a:ea typeface="Calibri" pitchFamily="34" charset="-122"/>
                <a:cs typeface="Calibri" pitchFamily="34" charset="-120"/>
              </a:rPr>
              <a:t>Inputs collected from the manager</a:t>
            </a:r>
            <a:endParaRPr lang="en-US" sz="1450" dirty="0"/>
          </a:p>
        </p:txBody>
      </p:sp>
      <p:sp>
        <p:nvSpPr>
          <p:cNvPr id="16" name="Text 14"/>
          <p:cNvSpPr/>
          <p:nvPr/>
        </p:nvSpPr>
        <p:spPr>
          <a:xfrm>
            <a:off x="548640" y="3520440"/>
            <a:ext cx="5303520" cy="1554480"/>
          </a:xfrm>
          <a:prstGeom prst="rect">
            <a:avLst/>
          </a:prstGeom>
          <a:noFill/>
          <a:ln/>
        </p:spPr>
        <p:txBody>
          <a:bodyPr wrap="square" rtlCol="0" anchor="ctr"/>
          <a:lstStyle/>
          <a:p>
            <a:pPr marL="152400" indent="-152400">
              <a:lnSpc>
                <a:spcPct val="125000"/>
              </a:lnSpc>
              <a:spcAft>
                <a:spcPts val="800"/>
              </a:spcAft>
              <a:buSzPct val="100000"/>
              <a:buChar char="•"/>
            </a:pPr>
            <a:r>
              <a:rPr lang="en-US" sz="1250" dirty="0">
                <a:solidFill>
                  <a:srgbClr val="1B1F23"/>
                </a:solidFill>
                <a:latin typeface="Calibri" pitchFamily="34" charset="0"/>
                <a:ea typeface="Calibri" pitchFamily="34" charset="-122"/>
                <a:cs typeface="Calibri" pitchFamily="34" charset="-120"/>
              </a:rPr>
              <a:t>Store_id</a:t>
            </a:r>
            <a:endParaRPr lang="en-US" sz="1250" dirty="0"/>
          </a:p>
          <a:p>
            <a:pPr marL="152400" indent="-152400">
              <a:lnSpc>
                <a:spcPct val="125000"/>
              </a:lnSpc>
              <a:spcAft>
                <a:spcPts val="800"/>
              </a:spcAft>
              <a:buSzPct val="100000"/>
              <a:buChar char="•"/>
            </a:pPr>
            <a:r>
              <a:rPr lang="en-US" sz="1250" dirty="0">
                <a:solidFill>
                  <a:srgbClr val="1B1F23"/>
                </a:solidFill>
                <a:latin typeface="Calibri" pitchFamily="34" charset="0"/>
                <a:ea typeface="Calibri" pitchFamily="34" charset="-122"/>
                <a:cs typeface="Calibri" pitchFamily="34" charset="-120"/>
              </a:rPr>
              <a:t>CSV upload: Date, IsHoliday, IsWeekend, IsPromo, ...</a:t>
            </a:r>
            <a:endParaRPr lang="en-US" sz="1250" dirty="0"/>
          </a:p>
          <a:p>
            <a:pPr marL="152400" indent="-152400">
              <a:lnSpc>
                <a:spcPct val="125000"/>
              </a:lnSpc>
              <a:spcAft>
                <a:spcPts val="800"/>
              </a:spcAft>
              <a:buSzPct val="100000"/>
              <a:buChar char="•"/>
            </a:pPr>
            <a:r>
              <a:rPr lang="en-US" sz="1250" dirty="0">
                <a:solidFill>
                  <a:srgbClr val="1B1F23"/>
                </a:solidFill>
                <a:latin typeface="Calibri" pitchFamily="34" charset="0"/>
                <a:ea typeface="Calibri" pitchFamily="34" charset="-122"/>
                <a:cs typeface="Calibri" pitchFamily="34" charset="-120"/>
              </a:rPr>
              <a:t>Any date-independent parameter the model needs</a:t>
            </a:r>
            <a:endParaRPr lang="en-US" sz="1250" dirty="0"/>
          </a:p>
        </p:txBody>
      </p:sp>
      <p:sp>
        <p:nvSpPr>
          <p:cNvPr id="17" name="Text 15"/>
          <p:cNvSpPr/>
          <p:nvPr/>
        </p:nvSpPr>
        <p:spPr>
          <a:xfrm>
            <a:off x="6263640" y="3108960"/>
            <a:ext cx="5349240" cy="365760"/>
          </a:xfrm>
          <a:prstGeom prst="rect">
            <a:avLst/>
          </a:prstGeom>
          <a:noFill/>
          <a:ln/>
        </p:spPr>
        <p:txBody>
          <a:bodyPr wrap="square" rtlCol="0" anchor="ctr"/>
          <a:lstStyle/>
          <a:p>
            <a:pPr indent="0" marL="0">
              <a:buNone/>
            </a:pPr>
            <a:r>
              <a:rPr lang="en-US" sz="1450" b="1" dirty="0">
                <a:solidFill>
                  <a:srgbClr val="0B3D62"/>
                </a:solidFill>
                <a:latin typeface="Calibri" pitchFamily="34" charset="0"/>
                <a:ea typeface="Calibri" pitchFamily="34" charset="-122"/>
                <a:cs typeface="Calibri" pitchFamily="34" charset="-120"/>
              </a:rPr>
              <a:t>What the dashboard returns</a:t>
            </a:r>
            <a:endParaRPr lang="en-US" sz="1450" dirty="0"/>
          </a:p>
        </p:txBody>
      </p:sp>
      <p:sp>
        <p:nvSpPr>
          <p:cNvPr id="18" name="Text 16"/>
          <p:cNvSpPr/>
          <p:nvPr/>
        </p:nvSpPr>
        <p:spPr>
          <a:xfrm>
            <a:off x="6263640" y="3520440"/>
            <a:ext cx="5349240" cy="1554480"/>
          </a:xfrm>
          <a:prstGeom prst="rect">
            <a:avLst/>
          </a:prstGeom>
          <a:noFill/>
          <a:ln/>
        </p:spPr>
        <p:txBody>
          <a:bodyPr wrap="square" rtlCol="0" anchor="ctr"/>
          <a:lstStyle/>
          <a:p>
            <a:pPr marL="152400" indent="-152400">
              <a:lnSpc>
                <a:spcPct val="125000"/>
              </a:lnSpc>
              <a:spcAft>
                <a:spcPts val="800"/>
              </a:spcAft>
              <a:buSzPct val="100000"/>
              <a:buChar char="•"/>
            </a:pPr>
            <a:r>
              <a:rPr lang="en-US" sz="1250" dirty="0">
                <a:solidFill>
                  <a:srgbClr val="1B1F23"/>
                </a:solidFill>
                <a:latin typeface="Calibri" pitchFamily="34" charset="0"/>
                <a:ea typeface="Calibri" pitchFamily="34" charset="-122"/>
                <a:cs typeface="Calibri" pitchFamily="34" charset="-120"/>
              </a:rPr>
              <a:t>A chart of predicted Sales &amp; Customers over the horizon</a:t>
            </a:r>
            <a:endParaRPr lang="en-US" sz="1250" dirty="0"/>
          </a:p>
          <a:p>
            <a:pPr marL="152400" indent="-152400">
              <a:lnSpc>
                <a:spcPct val="125000"/>
              </a:lnSpc>
              <a:spcAft>
                <a:spcPts val="800"/>
              </a:spcAft>
              <a:buSzPct val="100000"/>
              <a:buChar char="•"/>
            </a:pPr>
            <a:r>
              <a:rPr lang="en-US" sz="1250" dirty="0">
                <a:solidFill>
                  <a:srgbClr val="1B1F23"/>
                </a:solidFill>
                <a:latin typeface="Calibri" pitchFamily="34" charset="0"/>
                <a:ea typeface="Calibri" pitchFamily="34" charset="-122"/>
                <a:cs typeface="Calibri" pitchFamily="34" charset="-120"/>
              </a:rPr>
              <a:t>A downloadable CSV of the predictions</a:t>
            </a:r>
            <a:endParaRPr lang="en-US" sz="1250" dirty="0"/>
          </a:p>
          <a:p>
            <a:pPr marL="152400" indent="-152400">
              <a:lnSpc>
                <a:spcPct val="125000"/>
              </a:lnSpc>
              <a:spcAft>
                <a:spcPts val="800"/>
              </a:spcAft>
              <a:buSzPct val="100000"/>
              <a:buChar char="•"/>
            </a:pPr>
            <a:r>
              <a:rPr lang="en-US" sz="1250" dirty="0">
                <a:solidFill>
                  <a:srgbClr val="1B1F23"/>
                </a:solidFill>
                <a:latin typeface="Calibri" pitchFamily="34" charset="0"/>
                <a:ea typeface="Calibri" pitchFamily="34" charset="-122"/>
                <a:cs typeface="Calibri" pitchFamily="34" charset="-120"/>
              </a:rPr>
              <a:t>The same feature-engineering code path used in training — no train/serve skew</a:t>
            </a:r>
            <a:endParaRPr lang="en-US" sz="1250" dirty="0"/>
          </a:p>
        </p:txBody>
      </p:sp>
      <p:sp>
        <p:nvSpPr>
          <p:cNvPr id="19" name="Shape 17"/>
          <p:cNvSpPr/>
          <p:nvPr/>
        </p:nvSpPr>
        <p:spPr>
          <a:xfrm>
            <a:off x="548640" y="5257800"/>
            <a:ext cx="11064240" cy="868680"/>
          </a:xfrm>
          <a:prstGeom prst="roundRect">
            <a:avLst>
              <a:gd name="adj" fmla="val 9474"/>
            </a:avLst>
          </a:prstGeom>
          <a:solidFill>
            <a:srgbClr val="0B3D62"/>
          </a:solidFill>
          <a:ln/>
        </p:spPr>
      </p:sp>
      <p:sp>
        <p:nvSpPr>
          <p:cNvPr id="20" name="Text 18"/>
          <p:cNvSpPr/>
          <p:nvPr/>
        </p:nvSpPr>
        <p:spPr>
          <a:xfrm>
            <a:off x="777240" y="5257800"/>
            <a:ext cx="10515600" cy="868680"/>
          </a:xfrm>
          <a:prstGeom prst="rect">
            <a:avLst/>
          </a:prstGeom>
          <a:noFill/>
          <a:ln/>
        </p:spPr>
        <p:txBody>
          <a:bodyPr wrap="square" rtlCol="0" anchor="ctr"/>
          <a:lstStyle/>
          <a:p>
            <a:pPr indent="0" marL="0">
              <a:lnSpc>
                <a:spcPct val="120000"/>
              </a:lnSpc>
              <a:buNone/>
            </a:pPr>
            <a:r>
              <a:rPr lang="en-US" sz="1250" b="1" dirty="0">
                <a:solidFill>
                  <a:srgbClr val="F2A541"/>
                </a:solidFill>
                <a:latin typeface="Calibri" pitchFamily="34" charset="0"/>
                <a:ea typeface="Calibri" pitchFamily="34" charset="-122"/>
                <a:cs typeface="Calibri" pitchFamily="34" charset="-120"/>
              </a:rPr>
              <a:t>Deployment:  </a:t>
            </a:r>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Flask + gunicorn, containerized and deployed to a free Heroku dyno (or any container host) with pinned requirements so the serialized pipeline unpickles identically in production.</a:t>
            </a:r>
            <a:endParaRPr lang="en-US" sz="1250" dirty="0"/>
          </a:p>
        </p:txBody>
      </p:sp>
      <p:sp>
        <p:nvSpPr>
          <p:cNvPr id="21" name="Text 19"/>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263F"/>
        </a:solidFill>
      </p:bgPr>
    </p:bg>
    <p:spTree>
      <p:nvGrpSpPr>
        <p:cNvPr id="1" name=""/>
        <p:cNvGrpSpPr/>
        <p:nvPr/>
      </p:nvGrpSpPr>
      <p:grpSpPr>
        <a:xfrm>
          <a:off x="0" y="0"/>
          <a:ext cx="0" cy="0"/>
          <a:chOff x="0" y="0"/>
          <a:chExt cx="0" cy="0"/>
        </a:xfrm>
      </p:grpSpPr>
      <p:sp>
        <p:nvSpPr>
          <p:cNvPr id="2" name="Text 0"/>
          <p:cNvSpPr/>
          <p:nvPr/>
        </p:nvSpPr>
        <p:spPr>
          <a:xfrm>
            <a:off x="548640" y="502920"/>
            <a:ext cx="5486400" cy="365760"/>
          </a:xfrm>
          <a:prstGeom prst="rect">
            <a:avLst/>
          </a:prstGeom>
          <a:noFill/>
          <a:ln/>
        </p:spPr>
        <p:txBody>
          <a:bodyPr wrap="square" rtlCol="0" anchor="ctr"/>
          <a:lstStyle/>
          <a:p>
            <a:pPr indent="0" marL="0">
              <a:buNone/>
            </a:pPr>
            <a:r>
              <a:rPr lang="en-US" sz="1200" b="1" spc="200" kern="0" dirty="0">
                <a:solidFill>
                  <a:srgbClr val="9FD8CB"/>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868680"/>
            <a:ext cx="10515600" cy="7315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working, explainable forecast — ready to extend</a:t>
            </a:r>
            <a:endParaRPr lang="en-US" sz="2600" dirty="0"/>
          </a:p>
        </p:txBody>
      </p:sp>
      <p:sp>
        <p:nvSpPr>
          <p:cNvPr id="4" name="Shape 2"/>
          <p:cNvSpPr/>
          <p:nvPr/>
        </p:nvSpPr>
        <p:spPr>
          <a:xfrm>
            <a:off x="548640" y="1828800"/>
            <a:ext cx="5440680" cy="4297680"/>
          </a:xfrm>
          <a:prstGeom prst="roundRect">
            <a:avLst>
              <a:gd name="adj" fmla="val 2128"/>
            </a:avLst>
          </a:prstGeom>
          <a:solidFill>
            <a:srgbClr val="0B3D62"/>
          </a:solidFill>
          <a:ln/>
        </p:spPr>
      </p:sp>
      <p:sp>
        <p:nvSpPr>
          <p:cNvPr id="5" name="Text 3"/>
          <p:cNvSpPr/>
          <p:nvPr/>
        </p:nvSpPr>
        <p:spPr>
          <a:xfrm>
            <a:off x="822960" y="2011680"/>
            <a:ext cx="4937760" cy="365760"/>
          </a:xfrm>
          <a:prstGeom prst="rect">
            <a:avLst/>
          </a:prstGeom>
          <a:noFill/>
          <a:ln/>
        </p:spPr>
        <p:txBody>
          <a:bodyPr wrap="square" rtlCol="0" anchor="ctr"/>
          <a:lstStyle/>
          <a:p>
            <a:pPr indent="0" marL="0">
              <a:buNone/>
            </a:pPr>
            <a:r>
              <a:rPr lang="en-US" sz="1500" b="1" dirty="0">
                <a:solidFill>
                  <a:srgbClr val="F2A541"/>
                </a:solidFill>
                <a:latin typeface="Calibri" pitchFamily="34" charset="0"/>
                <a:ea typeface="Calibri" pitchFamily="34" charset="-122"/>
                <a:cs typeface="Calibri" pitchFamily="34" charset="-120"/>
              </a:rPr>
              <a:t>Delivered</a:t>
            </a:r>
            <a:endParaRPr lang="en-US" sz="1500" dirty="0"/>
          </a:p>
        </p:txBody>
      </p:sp>
      <p:sp>
        <p:nvSpPr>
          <p:cNvPr id="6" name="Text 4"/>
          <p:cNvSpPr/>
          <p:nvPr/>
        </p:nvSpPr>
        <p:spPr>
          <a:xfrm>
            <a:off x="822960" y="2423160"/>
            <a:ext cx="4937760" cy="3566160"/>
          </a:xfrm>
          <a:prstGeom prst="rect">
            <a:avLst/>
          </a:prstGeom>
          <a:noFill/>
          <a:ln/>
        </p:spPr>
        <p:txBody>
          <a:bodyPr wrap="square" rtlCol="0" anchor="ctr"/>
          <a:lstStyle/>
          <a:p>
            <a:pPr marL="177800" indent="-177800">
              <a:lnSpc>
                <a:spcPct val="125000"/>
              </a:lnSpc>
              <a:spcAft>
                <a:spcPts val="1000"/>
              </a:spcAft>
              <a:buSzPct val="100000"/>
              <a:buChar char="✓"/>
            </a:pPr>
            <a:r>
              <a:rPr lang="en-US" sz="1200" dirty="0">
                <a:solidFill>
                  <a:srgbClr val="E8EEF1"/>
                </a:solidFill>
                <a:latin typeface="Calibri" pitchFamily="34" charset="0"/>
                <a:ea typeface="Calibri" pitchFamily="34" charset="-122"/>
                <a:cs typeface="Calibri" pitchFamily="34" charset="-120"/>
              </a:rPr>
              <a:t>Cleaned, merged &amp; feature-engineered dataset with logged, reproducible steps</a:t>
            </a:r>
            <a:endParaRPr lang="en-US" sz="1200" dirty="0"/>
          </a:p>
          <a:p>
            <a:pPr marL="177800" indent="-177800">
              <a:lnSpc>
                <a:spcPct val="125000"/>
              </a:lnSpc>
              <a:spcAft>
                <a:spcPts val="1000"/>
              </a:spcAft>
              <a:buSzPct val="100000"/>
              <a:buChar char="✓"/>
            </a:pPr>
            <a:r>
              <a:rPr lang="en-US" sz="1200" dirty="0">
                <a:solidFill>
                  <a:srgbClr val="E8EEF1"/>
                </a:solidFill>
                <a:latin typeface="Calibri" pitchFamily="34" charset="0"/>
                <a:ea typeface="Calibri" pitchFamily="34" charset="-122"/>
                <a:cs typeface="Calibri" pitchFamily="34" charset="-120"/>
              </a:rPr>
              <a:t>10+ EDA findings answering every guiding question, each with an actionable insight</a:t>
            </a:r>
            <a:endParaRPr lang="en-US" sz="1200" dirty="0"/>
          </a:p>
          <a:p>
            <a:pPr marL="177800" indent="-177800">
              <a:lnSpc>
                <a:spcPct val="125000"/>
              </a:lnSpc>
              <a:spcAft>
                <a:spcPts val="1000"/>
              </a:spcAft>
              <a:buSzPct val="100000"/>
              <a:buChar char="✓"/>
            </a:pPr>
            <a:r>
              <a:rPr lang="en-US" sz="1200" dirty="0">
                <a:solidFill>
                  <a:srgbClr val="E8EEF1"/>
                </a:solidFill>
                <a:latin typeface="Calibri" pitchFamily="34" charset="0"/>
                <a:ea typeface="Calibri" pitchFamily="34" charset="-122"/>
                <a:cs typeface="Calibri" pitchFamily="34" charset="-120"/>
              </a:rPr>
              <a:t>A reproducible sklearn pipeline validated on a true 6-week-ahead holdout</a:t>
            </a:r>
            <a:endParaRPr lang="en-US" sz="1200" dirty="0"/>
          </a:p>
          <a:p>
            <a:pPr marL="177800" indent="-177800">
              <a:lnSpc>
                <a:spcPct val="125000"/>
              </a:lnSpc>
              <a:spcAft>
                <a:spcPts val="1000"/>
              </a:spcAft>
              <a:buSzPct val="100000"/>
              <a:buChar char="✓"/>
            </a:pPr>
            <a:r>
              <a:rPr lang="en-US" sz="1200" dirty="0">
                <a:solidFill>
                  <a:srgbClr val="E8EEF1"/>
                </a:solidFill>
                <a:latin typeface="Calibri" pitchFamily="34" charset="0"/>
                <a:ea typeface="Calibri" pitchFamily="34" charset="-122"/>
                <a:cs typeface="Calibri" pitchFamily="34" charset="-120"/>
              </a:rPr>
              <a:t>Feature importance + a transparently-limited confidence interval estimate</a:t>
            </a:r>
            <a:endParaRPr lang="en-US" sz="1200" dirty="0"/>
          </a:p>
          <a:p>
            <a:pPr marL="177800" indent="-177800">
              <a:lnSpc>
                <a:spcPct val="125000"/>
              </a:lnSpc>
              <a:spcAft>
                <a:spcPts val="1000"/>
              </a:spcAft>
              <a:buSzPct val="100000"/>
              <a:buChar char="✓"/>
            </a:pPr>
            <a:r>
              <a:rPr lang="en-US" sz="1200" dirty="0">
                <a:solidFill>
                  <a:srgbClr val="E8EEF1"/>
                </a:solidFill>
                <a:latin typeface="Calibri" pitchFamily="34" charset="0"/>
                <a:ea typeface="Calibri" pitchFamily="34" charset="-122"/>
                <a:cs typeface="Calibri" pitchFamily="34" charset="-120"/>
              </a:rPr>
              <a:t>Timestamped model serialization for daily retraining</a:t>
            </a:r>
            <a:endParaRPr lang="en-US" sz="1200" dirty="0"/>
          </a:p>
          <a:p>
            <a:pPr marL="177800" indent="-177800">
              <a:lnSpc>
                <a:spcPct val="125000"/>
              </a:lnSpc>
              <a:spcAft>
                <a:spcPts val="1000"/>
              </a:spcAft>
              <a:buSzPct val="100000"/>
              <a:buChar char="✓"/>
            </a:pPr>
            <a:r>
              <a:rPr lang="en-US" sz="1200" dirty="0">
                <a:solidFill>
                  <a:srgbClr val="E8EEF1"/>
                </a:solidFill>
                <a:latin typeface="Calibri" pitchFamily="34" charset="0"/>
                <a:ea typeface="Calibri" pitchFamily="34" charset="-122"/>
                <a:cs typeface="Calibri" pitchFamily="34" charset="-120"/>
              </a:rPr>
              <a:t>Reference-complete LSTM and MLflow-serving code, and a Flask deployment design</a:t>
            </a:r>
            <a:endParaRPr lang="en-US" sz="1200" dirty="0"/>
          </a:p>
        </p:txBody>
      </p:sp>
      <p:sp>
        <p:nvSpPr>
          <p:cNvPr id="7" name="Shape 5"/>
          <p:cNvSpPr/>
          <p:nvPr/>
        </p:nvSpPr>
        <p:spPr>
          <a:xfrm>
            <a:off x="6217920" y="1828800"/>
            <a:ext cx="5440680" cy="4297680"/>
          </a:xfrm>
          <a:prstGeom prst="roundRect">
            <a:avLst>
              <a:gd name="adj" fmla="val 2128"/>
            </a:avLst>
          </a:prstGeom>
          <a:solidFill>
            <a:srgbClr val="1C7293"/>
          </a:solidFill>
          <a:ln/>
        </p:spPr>
      </p:sp>
      <p:sp>
        <p:nvSpPr>
          <p:cNvPr id="8" name="Text 6"/>
          <p:cNvSpPr/>
          <p:nvPr/>
        </p:nvSpPr>
        <p:spPr>
          <a:xfrm>
            <a:off x="6492240" y="2011680"/>
            <a:ext cx="4937760" cy="365760"/>
          </a:xfrm>
          <a:prstGeom prst="rect">
            <a:avLst/>
          </a:prstGeom>
          <a:noFill/>
          <a:ln/>
        </p:spPr>
        <p:txBody>
          <a:bodyPr wrap="square" rtlCol="0" anchor="ctr"/>
          <a:lstStyle/>
          <a:p>
            <a:pPr indent="0" marL="0">
              <a:buNone/>
            </a:pPr>
            <a:r>
              <a:rPr lang="en-US" sz="1500" b="1" dirty="0">
                <a:solidFill>
                  <a:srgbClr val="07263F"/>
                </a:solidFill>
                <a:latin typeface="Calibri" pitchFamily="34" charset="0"/>
                <a:ea typeface="Calibri" pitchFamily="34" charset="-122"/>
                <a:cs typeface="Calibri" pitchFamily="34" charset="-120"/>
              </a:rPr>
              <a:t>Future Scope</a:t>
            </a:r>
            <a:endParaRPr lang="en-US" sz="1500" dirty="0"/>
          </a:p>
        </p:txBody>
      </p:sp>
      <p:sp>
        <p:nvSpPr>
          <p:cNvPr id="9" name="Text 7"/>
          <p:cNvSpPr/>
          <p:nvPr/>
        </p:nvSpPr>
        <p:spPr>
          <a:xfrm>
            <a:off x="6492240" y="2423160"/>
            <a:ext cx="4937760" cy="3566160"/>
          </a:xfrm>
          <a:prstGeom prst="rect">
            <a:avLst/>
          </a:prstGeom>
          <a:noFill/>
          <a:ln/>
        </p:spPr>
        <p:txBody>
          <a:bodyPr wrap="square" rtlCol="0" anchor="ctr"/>
          <a:lstStyle/>
          <a:p>
            <a:pPr marL="177800" indent="-1778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Train on the full dataset + add per-store lag/rolling-sales features</a:t>
            </a:r>
            <a:endParaRPr lang="en-US" sz="1200" dirty="0"/>
          </a:p>
          <a:p>
            <a:pPr marL="177800" indent="-1778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Swap in gradient boosting (XGBoost/LightGBM) with hyperparameter search</a:t>
            </a:r>
            <a:endParaRPr lang="en-US" sz="1200" dirty="0"/>
          </a:p>
          <a:p>
            <a:pPr marL="177800" indent="-1778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Calibrate real prediction intervals (quantile forest / conformal prediction)</a:t>
            </a:r>
            <a:endParaRPr lang="en-US" sz="1200" dirty="0"/>
          </a:p>
          <a:p>
            <a:pPr marL="177800" indent="-1778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Ensemble tree model + LSTM for cross-sectional and temporal strengths</a:t>
            </a:r>
            <a:endParaRPr lang="en-US" sz="1200" dirty="0"/>
          </a:p>
          <a:p>
            <a:pPr marL="177800" indent="-1778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Automate retrain → register → deploy via MLflow registry + scheduled jobs</a:t>
            </a:r>
            <a:endParaRPr lang="en-US" sz="1200" dirty="0"/>
          </a:p>
          <a:p>
            <a:pPr marL="177800" indent="-1778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A/B test promo targeting using the store-level lift estimates from the EDA</a:t>
            </a:r>
            <a:endParaRPr lang="en-US" sz="1200" dirty="0"/>
          </a:p>
        </p:txBody>
      </p:sp>
      <p:sp>
        <p:nvSpPr>
          <p:cNvPr id="10" name="Text 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2026-07-20T08:24:47Z</dcterms:created>
  <dcterms:modified xsi:type="dcterms:W3CDTF">2026-07-20T08:24:47Z</dcterms:modified>
</cp:coreProperties>
</file>